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0" r:id="rId4"/>
    <p:sldId id="262" r:id="rId5"/>
    <p:sldId id="264" r:id="rId6"/>
    <p:sldId id="265" r:id="rId7"/>
    <p:sldId id="266"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7C0D8-40AA-482F-B37C-BA85DAF3C16F}" v="5" dt="2026-08-20T09:31:13.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836"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ya Gopinathan" userId="a5c7e265-9cf8-4b6a-a9cf-41b712f9020e" providerId="ADAL" clId="{B0FF57B2-E5AF-48EC-A02C-9F9B2C489F7F}"/>
    <pc:docChg chg="custSel delSld modSld sldOrd">
      <pc:chgData name="Soumya Gopinathan" userId="a5c7e265-9cf8-4b6a-a9cf-41b712f9020e" providerId="ADAL" clId="{B0FF57B2-E5AF-48EC-A02C-9F9B2C489F7F}" dt="2026-08-20T09:31:29.216" v="66" actId="47"/>
      <pc:docMkLst>
        <pc:docMk/>
      </pc:docMkLst>
      <pc:sldChg chg="addSp delSp modSp mod">
        <pc:chgData name="Soumya Gopinathan" userId="a5c7e265-9cf8-4b6a-a9cf-41b712f9020e" providerId="ADAL" clId="{B0FF57B2-E5AF-48EC-A02C-9F9B2C489F7F}" dt="2026-08-20T09:31:25.300" v="65" actId="478"/>
        <pc:sldMkLst>
          <pc:docMk/>
          <pc:sldMk cId="0" sldId="257"/>
        </pc:sldMkLst>
        <pc:spChg chg="del">
          <ac:chgData name="Soumya Gopinathan" userId="a5c7e265-9cf8-4b6a-a9cf-41b712f9020e" providerId="ADAL" clId="{B0FF57B2-E5AF-48EC-A02C-9F9B2C489F7F}" dt="2026-08-20T09:27:43.924" v="0" actId="478"/>
          <ac:spMkLst>
            <pc:docMk/>
            <pc:sldMk cId="0" sldId="257"/>
            <ac:spMk id="11" creationId="{00000000-0000-0000-0000-000000000000}"/>
          </ac:spMkLst>
        </pc:spChg>
        <pc:spChg chg="del">
          <ac:chgData name="Soumya Gopinathan" userId="a5c7e265-9cf8-4b6a-a9cf-41b712f9020e" providerId="ADAL" clId="{B0FF57B2-E5AF-48EC-A02C-9F9B2C489F7F}" dt="2026-08-20T09:27:43.924" v="0" actId="478"/>
          <ac:spMkLst>
            <pc:docMk/>
            <pc:sldMk cId="0" sldId="257"/>
            <ac:spMk id="13" creationId="{00000000-0000-0000-0000-000000000000}"/>
          </ac:spMkLst>
        </pc:spChg>
        <pc:spChg chg="del">
          <ac:chgData name="Soumya Gopinathan" userId="a5c7e265-9cf8-4b6a-a9cf-41b712f9020e" providerId="ADAL" clId="{B0FF57B2-E5AF-48EC-A02C-9F9B2C489F7F}" dt="2026-08-20T09:27:43.924" v="0" actId="478"/>
          <ac:spMkLst>
            <pc:docMk/>
            <pc:sldMk cId="0" sldId="257"/>
            <ac:spMk id="15" creationId="{00000000-0000-0000-0000-000000000000}"/>
          </ac:spMkLst>
        </pc:spChg>
        <pc:spChg chg="del">
          <ac:chgData name="Soumya Gopinathan" userId="a5c7e265-9cf8-4b6a-a9cf-41b712f9020e" providerId="ADAL" clId="{B0FF57B2-E5AF-48EC-A02C-9F9B2C489F7F}" dt="2026-08-20T09:27:43.924" v="0" actId="478"/>
          <ac:spMkLst>
            <pc:docMk/>
            <pc:sldMk cId="0" sldId="257"/>
            <ac:spMk id="17" creationId="{00000000-0000-0000-0000-000000000000}"/>
          </ac:spMkLst>
        </pc:spChg>
        <pc:spChg chg="add del mod">
          <ac:chgData name="Soumya Gopinathan" userId="a5c7e265-9cf8-4b6a-a9cf-41b712f9020e" providerId="ADAL" clId="{B0FF57B2-E5AF-48EC-A02C-9F9B2C489F7F}" dt="2026-08-20T09:28:55.619" v="12" actId="478"/>
          <ac:spMkLst>
            <pc:docMk/>
            <pc:sldMk cId="0" sldId="257"/>
            <ac:spMk id="20" creationId="{4FDD8349-71FA-2052-E7E6-FC334C5FB5A3}"/>
          </ac:spMkLst>
        </pc:spChg>
        <pc:spChg chg="add del mod">
          <ac:chgData name="Soumya Gopinathan" userId="a5c7e265-9cf8-4b6a-a9cf-41b712f9020e" providerId="ADAL" clId="{B0FF57B2-E5AF-48EC-A02C-9F9B2C489F7F}" dt="2026-08-20T09:28:53.842" v="11" actId="478"/>
          <ac:spMkLst>
            <pc:docMk/>
            <pc:sldMk cId="0" sldId="257"/>
            <ac:spMk id="21" creationId="{B2FE1B77-B0B2-07CC-5AA3-FB5D270673E7}"/>
          </ac:spMkLst>
        </pc:spChg>
        <pc:spChg chg="add mod">
          <ac:chgData name="Soumya Gopinathan" userId="a5c7e265-9cf8-4b6a-a9cf-41b712f9020e" providerId="ADAL" clId="{B0FF57B2-E5AF-48EC-A02C-9F9B2C489F7F}" dt="2026-08-20T09:31:00.285" v="57" actId="14100"/>
          <ac:spMkLst>
            <pc:docMk/>
            <pc:sldMk cId="0" sldId="257"/>
            <ac:spMk id="22" creationId="{1D2278B0-1A9E-D333-EAF6-9B1E1C6D44D6}"/>
          </ac:spMkLst>
        </pc:spChg>
        <pc:spChg chg="add mod">
          <ac:chgData name="Soumya Gopinathan" userId="a5c7e265-9cf8-4b6a-a9cf-41b712f9020e" providerId="ADAL" clId="{B0FF57B2-E5AF-48EC-A02C-9F9B2C489F7F}" dt="2026-08-20T09:31:02.674" v="58" actId="14100"/>
          <ac:spMkLst>
            <pc:docMk/>
            <pc:sldMk cId="0" sldId="257"/>
            <ac:spMk id="23" creationId="{F702F55C-C5BB-143B-28A7-765BBA5CF38B}"/>
          </ac:spMkLst>
        </pc:spChg>
        <pc:spChg chg="add mod">
          <ac:chgData name="Soumya Gopinathan" userId="a5c7e265-9cf8-4b6a-a9cf-41b712f9020e" providerId="ADAL" clId="{B0FF57B2-E5AF-48EC-A02C-9F9B2C489F7F}" dt="2026-08-20T09:30:58.588" v="56" actId="14100"/>
          <ac:spMkLst>
            <pc:docMk/>
            <pc:sldMk cId="0" sldId="257"/>
            <ac:spMk id="24" creationId="{3D877865-455F-0821-DF26-7DDB7DF9C3A3}"/>
          </ac:spMkLst>
        </pc:spChg>
        <pc:spChg chg="add mod">
          <ac:chgData name="Soumya Gopinathan" userId="a5c7e265-9cf8-4b6a-a9cf-41b712f9020e" providerId="ADAL" clId="{B0FF57B2-E5AF-48EC-A02C-9F9B2C489F7F}" dt="2026-08-20T09:31:06.553" v="60" actId="14100"/>
          <ac:spMkLst>
            <pc:docMk/>
            <pc:sldMk cId="0" sldId="257"/>
            <ac:spMk id="25" creationId="{31645C2D-07B7-A3BB-18C9-ED97BE37A7DD}"/>
          </ac:spMkLst>
        </pc:spChg>
        <pc:spChg chg="add mod">
          <ac:chgData name="Soumya Gopinathan" userId="a5c7e265-9cf8-4b6a-a9cf-41b712f9020e" providerId="ADAL" clId="{B0FF57B2-E5AF-48EC-A02C-9F9B2C489F7F}" dt="2026-08-20T09:30:50.946" v="54" actId="14100"/>
          <ac:spMkLst>
            <pc:docMk/>
            <pc:sldMk cId="0" sldId="257"/>
            <ac:spMk id="26" creationId="{B233D944-B35E-C769-C3E2-552766FEA38C}"/>
          </ac:spMkLst>
        </pc:spChg>
        <pc:spChg chg="add mod">
          <ac:chgData name="Soumya Gopinathan" userId="a5c7e265-9cf8-4b6a-a9cf-41b712f9020e" providerId="ADAL" clId="{B0FF57B2-E5AF-48EC-A02C-9F9B2C489F7F}" dt="2026-08-20T09:31:21.581" v="63" actId="14100"/>
          <ac:spMkLst>
            <pc:docMk/>
            <pc:sldMk cId="0" sldId="257"/>
            <ac:spMk id="28" creationId="{6A12354D-A857-3690-0C92-9FFB9E21481C}"/>
          </ac:spMkLst>
        </pc:spChg>
        <pc:spChg chg="add mod">
          <ac:chgData name="Soumya Gopinathan" userId="a5c7e265-9cf8-4b6a-a9cf-41b712f9020e" providerId="ADAL" clId="{B0FF57B2-E5AF-48EC-A02C-9F9B2C489F7F}" dt="2026-08-20T09:31:23.756" v="64" actId="14100"/>
          <ac:spMkLst>
            <pc:docMk/>
            <pc:sldMk cId="0" sldId="257"/>
            <ac:spMk id="29" creationId="{F86FEDF1-0A46-DBFA-FA2F-152CE6D8FE4E}"/>
          </ac:spMkLst>
        </pc:spChg>
        <pc:picChg chg="del">
          <ac:chgData name="Soumya Gopinathan" userId="a5c7e265-9cf8-4b6a-a9cf-41b712f9020e" providerId="ADAL" clId="{B0FF57B2-E5AF-48EC-A02C-9F9B2C489F7F}" dt="2026-08-20T09:31:25.300" v="65" actId="478"/>
          <ac:picMkLst>
            <pc:docMk/>
            <pc:sldMk cId="0" sldId="257"/>
            <ac:picMk id="6" creationId="{00000000-0000-0000-0000-000000000000}"/>
          </ac:picMkLst>
        </pc:picChg>
        <pc:picChg chg="add mod">
          <ac:chgData name="Soumya Gopinathan" userId="a5c7e265-9cf8-4b6a-a9cf-41b712f9020e" providerId="ADAL" clId="{B0FF57B2-E5AF-48EC-A02C-9F9B2C489F7F}" dt="2026-08-20T09:31:17.689" v="62" actId="1076"/>
          <ac:picMkLst>
            <pc:docMk/>
            <pc:sldMk cId="0" sldId="257"/>
            <ac:picMk id="27" creationId="{D8AD460F-E59C-3114-90F8-542E8D894683}"/>
          </ac:picMkLst>
        </pc:picChg>
      </pc:sldChg>
      <pc:sldChg chg="addSp modSp del mod">
        <pc:chgData name="Soumya Gopinathan" userId="a5c7e265-9cf8-4b6a-a9cf-41b712f9020e" providerId="ADAL" clId="{B0FF57B2-E5AF-48EC-A02C-9F9B2C489F7F}" dt="2026-08-20T09:29:18.330" v="19" actId="47"/>
        <pc:sldMkLst>
          <pc:docMk/>
          <pc:sldMk cId="0" sldId="258"/>
        </pc:sldMkLst>
        <pc:spChg chg="mod">
          <ac:chgData name="Soumya Gopinathan" userId="a5c7e265-9cf8-4b6a-a9cf-41b712f9020e" providerId="ADAL" clId="{B0FF57B2-E5AF-48EC-A02C-9F9B2C489F7F}" dt="2026-08-20T09:28:09.743" v="4" actId="14100"/>
          <ac:spMkLst>
            <pc:docMk/>
            <pc:sldMk cId="0" sldId="258"/>
            <ac:spMk id="10" creationId="{00000000-0000-0000-0000-000000000000}"/>
          </ac:spMkLst>
        </pc:spChg>
        <pc:spChg chg="mod">
          <ac:chgData name="Soumya Gopinathan" userId="a5c7e265-9cf8-4b6a-a9cf-41b712f9020e" providerId="ADAL" clId="{B0FF57B2-E5AF-48EC-A02C-9F9B2C489F7F}" dt="2026-08-20T09:28:09.743" v="4" actId="14100"/>
          <ac:spMkLst>
            <pc:docMk/>
            <pc:sldMk cId="0" sldId="258"/>
            <ac:spMk id="11" creationId="{00000000-0000-0000-0000-000000000000}"/>
          </ac:spMkLst>
        </pc:spChg>
        <pc:spChg chg="add mod">
          <ac:chgData name="Soumya Gopinathan" userId="a5c7e265-9cf8-4b6a-a9cf-41b712f9020e" providerId="ADAL" clId="{B0FF57B2-E5AF-48EC-A02C-9F9B2C489F7F}" dt="2026-08-20T09:28:18.578" v="7" actId="14100"/>
          <ac:spMkLst>
            <pc:docMk/>
            <pc:sldMk cId="0" sldId="258"/>
            <ac:spMk id="17" creationId="{75127109-3C2F-ABD0-5833-77CCD28E748D}"/>
          </ac:spMkLst>
        </pc:spChg>
        <pc:spChg chg="add mod">
          <ac:chgData name="Soumya Gopinathan" userId="a5c7e265-9cf8-4b6a-a9cf-41b712f9020e" providerId="ADAL" clId="{B0FF57B2-E5AF-48EC-A02C-9F9B2C489F7F}" dt="2026-08-20T09:28:25.793" v="10" actId="14100"/>
          <ac:spMkLst>
            <pc:docMk/>
            <pc:sldMk cId="0" sldId="258"/>
            <ac:spMk id="18" creationId="{6AEB6826-0227-B273-5533-DE47B0DB3063}"/>
          </ac:spMkLst>
        </pc:spChg>
      </pc:sldChg>
      <pc:sldChg chg="del">
        <pc:chgData name="Soumya Gopinathan" userId="a5c7e265-9cf8-4b6a-a9cf-41b712f9020e" providerId="ADAL" clId="{B0FF57B2-E5AF-48EC-A02C-9F9B2C489F7F}" dt="2026-08-20T09:29:19.408" v="20" actId="47"/>
        <pc:sldMkLst>
          <pc:docMk/>
          <pc:sldMk cId="0" sldId="259"/>
        </pc:sldMkLst>
      </pc:sldChg>
      <pc:sldChg chg="del">
        <pc:chgData name="Soumya Gopinathan" userId="a5c7e265-9cf8-4b6a-a9cf-41b712f9020e" providerId="ADAL" clId="{B0FF57B2-E5AF-48EC-A02C-9F9B2C489F7F}" dt="2026-08-20T09:29:41.583" v="21" actId="47"/>
        <pc:sldMkLst>
          <pc:docMk/>
          <pc:sldMk cId="0" sldId="261"/>
        </pc:sldMkLst>
      </pc:sldChg>
      <pc:sldChg chg="modSp del mod ord">
        <pc:chgData name="Soumya Gopinathan" userId="a5c7e265-9cf8-4b6a-a9cf-41b712f9020e" providerId="ADAL" clId="{B0FF57B2-E5AF-48EC-A02C-9F9B2C489F7F}" dt="2026-08-20T09:31:29.216" v="66" actId="47"/>
        <pc:sldMkLst>
          <pc:docMk/>
          <pc:sldMk cId="0" sldId="263"/>
        </pc:sldMkLst>
        <pc:spChg chg="mod">
          <ac:chgData name="Soumya Gopinathan" userId="a5c7e265-9cf8-4b6a-a9cf-41b712f9020e" providerId="ADAL" clId="{B0FF57B2-E5AF-48EC-A02C-9F9B2C489F7F}" dt="2026-08-20T09:30:11.162" v="43"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2633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Replace every dashed placeholder box with your own content. Keep the slide count and order intact so all teams are judged consistently. Delete this notes section before presenting. Suggested total length: 10-12 minutes, 11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8CA943-276D-BEDC-1D64-182257D436C9}"/>
              </a:ext>
            </a:extLst>
          </p:cNvPr>
          <p:cNvSpPr txBox="1"/>
          <p:nvPr userDrawn="1">
            <p:extLst>
              <p:ext uri="{1162E1C5-73C7-4A58-AE30-91384D911F3F}">
                <p184:classification xmlns:p184="http://schemas.microsoft.com/office/powerpoint/2018/4/main" val="ftr"/>
              </p:ext>
            </p:extLst>
          </p:nvPr>
        </p:nvSpPr>
        <p:spPr>
          <a:xfrm>
            <a:off x="5965825" y="6703060"/>
            <a:ext cx="276225" cy="91440"/>
          </a:xfrm>
          <a:prstGeom prst="rect">
            <a:avLst/>
          </a:prstGeom>
        </p:spPr>
        <p:txBody>
          <a:bodyPr horzOverflow="overflow" lIns="0" tIns="0" rIns="0" bIns="0">
            <a:spAutoFit/>
          </a:bodyPr>
          <a:lstStyle/>
          <a:p>
            <a:pPr algn="l"/>
            <a:r>
              <a:rPr lang="en-IN" sz="600">
                <a:solidFill>
                  <a:srgbClr val="626469">
                    <a:alpha val="50000"/>
                  </a:srgbClr>
                </a:solidFill>
                <a:latin typeface="Aptos" panose="020B0004020202020204" pitchFamily="34" charset="0"/>
              </a:rPr>
              <a:t>General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30" name="Shape 10">
            <a:extLst>
              <a:ext uri="{FF2B5EF4-FFF2-40B4-BE49-F238E27FC236}">
                <a16:creationId xmlns:a16="http://schemas.microsoft.com/office/drawing/2014/main" id="{2B1E9CC0-7471-C13C-8D78-2401C39E1E2F}"/>
              </a:ext>
            </a:extLst>
          </p:cNvPr>
          <p:cNvSpPr/>
          <p:nvPr/>
        </p:nvSpPr>
        <p:spPr>
          <a:xfrm>
            <a:off x="4800600" y="4055002"/>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pic>
        <p:nvPicPr>
          <p:cNvPr id="4" name="Image 0" descr="icons/bolt_cyan.png"/>
          <p:cNvPicPr>
            <a:picLocks noChangeAspect="1"/>
          </p:cNvPicPr>
          <p:nvPr/>
        </p:nvPicPr>
        <p:blipFill>
          <a:blip r:embed="rId3"/>
          <a:stretch>
            <a:fillRect/>
          </a:stretch>
        </p:blipFill>
        <p:spPr>
          <a:xfrm>
            <a:off x="777240" y="685800"/>
            <a:ext cx="502920" cy="502920"/>
          </a:xfrm>
          <a:prstGeom prst="rect">
            <a:avLst/>
          </a:prstGeom>
        </p:spPr>
      </p:pic>
      <p:sp>
        <p:nvSpPr>
          <p:cNvPr id="5" name="Text 2"/>
          <p:cNvSpPr/>
          <p:nvPr/>
        </p:nvSpPr>
        <p:spPr>
          <a:xfrm>
            <a:off x="777240" y="1298448"/>
            <a:ext cx="8229600" cy="365760"/>
          </a:xfrm>
          <a:prstGeom prst="rect">
            <a:avLst/>
          </a:prstGeom>
          <a:noFill/>
          <a:ln/>
        </p:spPr>
        <p:txBody>
          <a:bodyPr wrap="square" lIns="0" tIns="0" rIns="0" bIns="0" rtlCol="0" anchor="ctr"/>
          <a:lstStyle/>
          <a:p>
            <a:pPr marL="0" indent="0">
              <a:buNone/>
            </a:pPr>
            <a:r>
              <a:rPr lang="en-US" sz="1300" b="1" kern="0" spc="200" dirty="0">
                <a:solidFill>
                  <a:srgbClr val="22D3EE"/>
                </a:solidFill>
                <a:latin typeface="Calibri" pitchFamily="34" charset="0"/>
                <a:ea typeface="Calibri" pitchFamily="34" charset="-122"/>
                <a:cs typeface="Calibri" pitchFamily="34" charset="-120"/>
              </a:rPr>
              <a:t>PredictX  ·  TEAM PITCH DECK TEMPLATE</a:t>
            </a:r>
            <a:endParaRPr lang="en-US" sz="1300" dirty="0"/>
          </a:p>
        </p:txBody>
      </p:sp>
      <p:sp>
        <p:nvSpPr>
          <p:cNvPr id="6" name="Shape 3"/>
          <p:cNvSpPr/>
          <p:nvPr/>
        </p:nvSpPr>
        <p:spPr>
          <a:xfrm>
            <a:off x="777240" y="1783080"/>
            <a:ext cx="7863840" cy="685800"/>
          </a:xfrm>
          <a:prstGeom prst="roundRect">
            <a:avLst>
              <a:gd name="adj" fmla="val 10667"/>
            </a:avLst>
          </a:prstGeom>
          <a:solidFill>
            <a:srgbClr val="242A52"/>
          </a:solidFill>
          <a:ln w="12700">
            <a:solidFill>
              <a:srgbClr val="94A3B8"/>
            </a:solidFill>
            <a:prstDash val="dash"/>
          </a:ln>
        </p:spPr>
        <p:txBody>
          <a:bodyPr/>
          <a:lstStyle/>
          <a:p>
            <a:endParaRPr lang="en-IN"/>
          </a:p>
        </p:txBody>
      </p:sp>
      <p:sp>
        <p:nvSpPr>
          <p:cNvPr id="7" name="Text 4"/>
          <p:cNvSpPr/>
          <p:nvPr/>
        </p:nvSpPr>
        <p:spPr>
          <a:xfrm>
            <a:off x="1005840" y="1947672"/>
            <a:ext cx="7406640" cy="356616"/>
          </a:xfrm>
          <a:prstGeom prst="rect">
            <a:avLst/>
          </a:prstGeom>
          <a:noFill/>
          <a:ln/>
        </p:spPr>
        <p:txBody>
          <a:bodyPr wrap="square" lIns="0" tIns="0" rIns="0" bIns="0" rtlCol="0" anchor="t"/>
          <a:lstStyle/>
          <a:p>
            <a:pPr marL="0" indent="0">
              <a:lnSpc>
                <a:spcPct val="125000"/>
              </a:lnSpc>
              <a:buNone/>
            </a:pPr>
            <a:r>
              <a:rPr lang="en-US" sz="2600" i="1" dirty="0">
                <a:solidFill>
                  <a:srgbClr val="94A3B8"/>
                </a:solidFill>
                <a:latin typeface="Calibri" pitchFamily="34" charset="0"/>
                <a:ea typeface="Calibri" pitchFamily="34" charset="-122"/>
                <a:cs typeface="Calibri" pitchFamily="34" charset="-120"/>
              </a:rPr>
              <a:t>[ Your Team Name ]</a:t>
            </a:r>
            <a:endParaRPr lang="en-US" sz="2600" dirty="0"/>
          </a:p>
        </p:txBody>
      </p:sp>
      <p:sp>
        <p:nvSpPr>
          <p:cNvPr id="8" name="Text 5"/>
          <p:cNvSpPr/>
          <p:nvPr/>
        </p:nvSpPr>
        <p:spPr>
          <a:xfrm>
            <a:off x="777240" y="2697480"/>
            <a:ext cx="7315200" cy="274320"/>
          </a:xfrm>
          <a:prstGeom prst="rect">
            <a:avLst/>
          </a:prstGeom>
          <a:noFill/>
          <a:ln/>
        </p:spPr>
        <p:txBody>
          <a:bodyPr wrap="square" lIns="0" tIns="0" rIns="0" bIns="0" rtlCol="0" anchor="ctr"/>
          <a:lstStyle/>
          <a:p>
            <a:pPr marL="0" indent="0">
              <a:buNone/>
            </a:pPr>
            <a:r>
              <a:rPr lang="en-US" sz="1100" b="1" kern="0" spc="100" dirty="0">
                <a:solidFill>
                  <a:srgbClr val="94A3B8"/>
                </a:solidFill>
                <a:latin typeface="Calibri" pitchFamily="34" charset="0"/>
                <a:ea typeface="Calibri" pitchFamily="34" charset="-122"/>
                <a:cs typeface="Calibri" pitchFamily="34" charset="-120"/>
              </a:rPr>
              <a:t>THEME (select one — delete the other three)</a:t>
            </a:r>
            <a:endParaRPr lang="en-US" sz="1100" dirty="0"/>
          </a:p>
        </p:txBody>
      </p:sp>
      <p:sp>
        <p:nvSpPr>
          <p:cNvPr id="9" name="Shape 6"/>
          <p:cNvSpPr/>
          <p:nvPr/>
        </p:nvSpPr>
        <p:spPr>
          <a:xfrm>
            <a:off x="777240" y="3017520"/>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10" name="Text 7"/>
          <p:cNvSpPr/>
          <p:nvPr/>
        </p:nvSpPr>
        <p:spPr>
          <a:xfrm>
            <a:off x="914400" y="3017520"/>
            <a:ext cx="3520440" cy="384048"/>
          </a:xfrm>
          <a:prstGeom prst="rect">
            <a:avLst/>
          </a:prstGeom>
          <a:noFill/>
          <a:ln/>
        </p:spPr>
        <p:txBody>
          <a:bodyPr wrap="square" lIns="0" tIns="0" rIns="0" bIns="0" rtlCol="0" anchor="ctr"/>
          <a:lstStyle/>
          <a:p>
            <a:pPr marL="0" indent="0">
              <a:buNone/>
            </a:pPr>
            <a:r>
              <a:rPr lang="en-US" sz="1150" dirty="0">
                <a:solidFill>
                  <a:srgbClr val="C7D2FE"/>
                </a:solidFill>
                <a:latin typeface="Calibri" pitchFamily="34" charset="0"/>
                <a:ea typeface="Calibri" pitchFamily="34" charset="-122"/>
                <a:cs typeface="Calibri" pitchFamily="34" charset="-120"/>
              </a:rPr>
              <a:t>Autonomous Power Infrastructure</a:t>
            </a:r>
          </a:p>
        </p:txBody>
      </p:sp>
      <p:sp>
        <p:nvSpPr>
          <p:cNvPr id="11" name="Shape 8"/>
          <p:cNvSpPr/>
          <p:nvPr/>
        </p:nvSpPr>
        <p:spPr>
          <a:xfrm>
            <a:off x="4800600" y="3017520"/>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12" name="Text 9"/>
          <p:cNvSpPr/>
          <p:nvPr/>
        </p:nvSpPr>
        <p:spPr>
          <a:xfrm>
            <a:off x="4937760" y="3017520"/>
            <a:ext cx="3520440" cy="384048"/>
          </a:xfrm>
          <a:prstGeom prst="rect">
            <a:avLst/>
          </a:prstGeom>
          <a:noFill/>
          <a:ln/>
        </p:spPr>
        <p:txBody>
          <a:bodyPr wrap="square" lIns="0" tIns="0" rIns="0" bIns="0" rtlCol="0" anchor="ctr"/>
          <a:lstStyle/>
          <a:p>
            <a:pPr marL="0" indent="0">
              <a:buNone/>
            </a:pPr>
            <a:r>
              <a:rPr lang="en-US" sz="1150" dirty="0">
                <a:solidFill>
                  <a:srgbClr val="C7D2FE"/>
                </a:solidFill>
                <a:latin typeface="Calibri" pitchFamily="34" charset="0"/>
                <a:ea typeface="Calibri" pitchFamily="34" charset="-122"/>
                <a:cs typeface="Calibri" pitchFamily="34" charset="-120"/>
              </a:rPr>
              <a:t>Energy Intelligence &amp; Sustainability</a:t>
            </a:r>
          </a:p>
        </p:txBody>
      </p:sp>
      <p:sp>
        <p:nvSpPr>
          <p:cNvPr id="13" name="Shape 10"/>
          <p:cNvSpPr/>
          <p:nvPr/>
        </p:nvSpPr>
        <p:spPr>
          <a:xfrm>
            <a:off x="766635" y="3529583"/>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14" name="Text 11"/>
          <p:cNvSpPr/>
          <p:nvPr/>
        </p:nvSpPr>
        <p:spPr>
          <a:xfrm>
            <a:off x="914400" y="3520440"/>
            <a:ext cx="3520440" cy="384048"/>
          </a:xfrm>
          <a:prstGeom prst="rect">
            <a:avLst/>
          </a:prstGeom>
          <a:noFill/>
          <a:ln/>
        </p:spPr>
        <p:txBody>
          <a:bodyPr wrap="square" lIns="0" tIns="0" rIns="0" bIns="0" rtlCol="0" anchor="ctr"/>
          <a:lstStyle/>
          <a:p>
            <a:pPr marL="0" indent="0">
              <a:buNone/>
            </a:pPr>
            <a:r>
              <a:rPr lang="en-IN" sz="1150" dirty="0">
                <a:solidFill>
                  <a:srgbClr val="C7D2FE"/>
                </a:solidFill>
                <a:latin typeface="Calibri" pitchFamily="34" charset="0"/>
                <a:ea typeface="Calibri" pitchFamily="34" charset="-122"/>
                <a:cs typeface="Calibri" pitchFamily="34" charset="-120"/>
              </a:rPr>
              <a:t>Smart Protection, Safety &amp; Risk Management</a:t>
            </a:r>
          </a:p>
        </p:txBody>
      </p:sp>
      <p:sp>
        <p:nvSpPr>
          <p:cNvPr id="15" name="Shape 12"/>
          <p:cNvSpPr/>
          <p:nvPr/>
        </p:nvSpPr>
        <p:spPr>
          <a:xfrm>
            <a:off x="4800600" y="3520440"/>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16" name="Text 13"/>
          <p:cNvSpPr/>
          <p:nvPr/>
        </p:nvSpPr>
        <p:spPr>
          <a:xfrm>
            <a:off x="4937760" y="3520440"/>
            <a:ext cx="3520440" cy="384048"/>
          </a:xfrm>
          <a:prstGeom prst="rect">
            <a:avLst/>
          </a:prstGeom>
          <a:noFill/>
          <a:ln/>
        </p:spPr>
        <p:txBody>
          <a:bodyPr wrap="square" lIns="0" tIns="0" rIns="0" bIns="0" rtlCol="0" anchor="ctr"/>
          <a:lstStyle/>
          <a:p>
            <a:pPr marL="0" indent="0">
              <a:buNone/>
            </a:pPr>
            <a:r>
              <a:rPr lang="en-US" sz="1150" dirty="0">
                <a:solidFill>
                  <a:srgbClr val="C7D2FE"/>
                </a:solidFill>
                <a:latin typeface="Calibri" pitchFamily="34" charset="0"/>
                <a:ea typeface="Calibri" pitchFamily="34" charset="-122"/>
                <a:cs typeface="Calibri" pitchFamily="34" charset="-120"/>
              </a:rPr>
              <a:t>Connected Homes &amp; Intelligent Ecosystems</a:t>
            </a:r>
          </a:p>
        </p:txBody>
      </p:sp>
      <p:pic>
        <p:nvPicPr>
          <p:cNvPr id="17" name="Image 1" descr="icons/layers_cyan.png"/>
          <p:cNvPicPr>
            <a:picLocks noChangeAspect="1"/>
          </p:cNvPicPr>
          <p:nvPr/>
        </p:nvPicPr>
        <p:blipFill>
          <a:blip r:embed="rId4"/>
          <a:stretch>
            <a:fillRect/>
          </a:stretch>
        </p:blipFill>
        <p:spPr>
          <a:xfrm>
            <a:off x="777240" y="4818888"/>
            <a:ext cx="320040" cy="320040"/>
          </a:xfrm>
          <a:prstGeom prst="rect">
            <a:avLst/>
          </a:prstGeom>
        </p:spPr>
      </p:pic>
      <p:sp>
        <p:nvSpPr>
          <p:cNvPr id="18" name="Text 14"/>
          <p:cNvSpPr/>
          <p:nvPr/>
        </p:nvSpPr>
        <p:spPr>
          <a:xfrm>
            <a:off x="1234440" y="4818888"/>
            <a:ext cx="3200400" cy="274320"/>
          </a:xfrm>
          <a:prstGeom prst="rect">
            <a:avLst/>
          </a:prstGeom>
          <a:noFill/>
          <a:ln/>
        </p:spPr>
        <p:txBody>
          <a:bodyPr wrap="square" lIns="0" tIns="0" rIns="0" bIns="0" rtlCol="0" anchor="ctr"/>
          <a:lstStyle/>
          <a:p>
            <a:pPr marL="0" indent="0">
              <a:buNone/>
            </a:pPr>
            <a:r>
              <a:rPr lang="en-US" sz="1000" b="1" kern="0" spc="100" dirty="0">
                <a:solidFill>
                  <a:srgbClr val="94A3B8"/>
                </a:solidFill>
                <a:latin typeface="Calibri" pitchFamily="34" charset="0"/>
                <a:ea typeface="Calibri" pitchFamily="34" charset="-122"/>
                <a:cs typeface="Calibri" pitchFamily="34" charset="-120"/>
              </a:rPr>
              <a:t>BRANCH</a:t>
            </a:r>
            <a:endParaRPr lang="en-US" sz="1000" dirty="0"/>
          </a:p>
        </p:txBody>
      </p:sp>
      <p:sp>
        <p:nvSpPr>
          <p:cNvPr id="19" name="Text 15"/>
          <p:cNvSpPr/>
          <p:nvPr/>
        </p:nvSpPr>
        <p:spPr>
          <a:xfrm>
            <a:off x="1234440" y="5093208"/>
            <a:ext cx="3200400" cy="320040"/>
          </a:xfrm>
          <a:prstGeom prst="rect">
            <a:avLst/>
          </a:prstGeom>
          <a:noFill/>
          <a:ln/>
        </p:spPr>
        <p:txBody>
          <a:bodyPr wrap="square" lIns="0" tIns="0" rIns="0" bIns="0" rtlCol="0" anchor="ctr"/>
          <a:lstStyle/>
          <a:p>
            <a:pPr marL="0" indent="0">
              <a:buNone/>
            </a:pPr>
            <a:r>
              <a:rPr lang="en-US" sz="1300" i="1" dirty="0">
                <a:solidFill>
                  <a:srgbClr val="C7D2FE"/>
                </a:solidFill>
                <a:latin typeface="Calibri" pitchFamily="34" charset="0"/>
                <a:ea typeface="Calibri" pitchFamily="34" charset="-122"/>
                <a:cs typeface="Calibri" pitchFamily="34" charset="-120"/>
              </a:rPr>
              <a:t>[ Branch Name ]</a:t>
            </a:r>
            <a:endParaRPr lang="en-US" sz="1300" dirty="0"/>
          </a:p>
        </p:txBody>
      </p:sp>
      <p:pic>
        <p:nvPicPr>
          <p:cNvPr id="20" name="Image 2" descr="icons/users_cyan.png"/>
          <p:cNvPicPr>
            <a:picLocks noChangeAspect="1"/>
          </p:cNvPicPr>
          <p:nvPr/>
        </p:nvPicPr>
        <p:blipFill>
          <a:blip r:embed="rId5"/>
          <a:stretch>
            <a:fillRect/>
          </a:stretch>
        </p:blipFill>
        <p:spPr>
          <a:xfrm>
            <a:off x="4800600" y="4818888"/>
            <a:ext cx="320040" cy="320040"/>
          </a:xfrm>
          <a:prstGeom prst="rect">
            <a:avLst/>
          </a:prstGeom>
        </p:spPr>
      </p:pic>
      <p:sp>
        <p:nvSpPr>
          <p:cNvPr id="21" name="Text 16"/>
          <p:cNvSpPr/>
          <p:nvPr/>
        </p:nvSpPr>
        <p:spPr>
          <a:xfrm>
            <a:off x="5257800" y="4818888"/>
            <a:ext cx="3200400" cy="274320"/>
          </a:xfrm>
          <a:prstGeom prst="rect">
            <a:avLst/>
          </a:prstGeom>
          <a:noFill/>
          <a:ln/>
        </p:spPr>
        <p:txBody>
          <a:bodyPr wrap="square" lIns="0" tIns="0" rIns="0" bIns="0" rtlCol="0" anchor="ctr"/>
          <a:lstStyle/>
          <a:p>
            <a:pPr marL="0" indent="0">
              <a:buNone/>
            </a:pPr>
            <a:r>
              <a:rPr lang="en-US" sz="1000" b="1" kern="0" spc="100" dirty="0">
                <a:solidFill>
                  <a:srgbClr val="94A3B8"/>
                </a:solidFill>
                <a:latin typeface="Calibri" pitchFamily="34" charset="0"/>
                <a:ea typeface="Calibri" pitchFamily="34" charset="-122"/>
                <a:cs typeface="Calibri" pitchFamily="34" charset="-120"/>
              </a:rPr>
              <a:t>TEAM SIZE</a:t>
            </a:r>
            <a:endParaRPr lang="en-US" sz="1000" dirty="0"/>
          </a:p>
        </p:txBody>
      </p:sp>
      <p:sp>
        <p:nvSpPr>
          <p:cNvPr id="22" name="Text 17"/>
          <p:cNvSpPr/>
          <p:nvPr/>
        </p:nvSpPr>
        <p:spPr>
          <a:xfrm>
            <a:off x="5257800" y="5093208"/>
            <a:ext cx="3200400" cy="320040"/>
          </a:xfrm>
          <a:prstGeom prst="rect">
            <a:avLst/>
          </a:prstGeom>
          <a:noFill/>
          <a:ln/>
        </p:spPr>
        <p:txBody>
          <a:bodyPr wrap="square" lIns="0" tIns="0" rIns="0" bIns="0" rtlCol="0" anchor="ctr"/>
          <a:lstStyle/>
          <a:p>
            <a:pPr marL="0" indent="0">
              <a:buNone/>
            </a:pPr>
            <a:r>
              <a:rPr lang="en-US" sz="1300" i="1" dirty="0">
                <a:solidFill>
                  <a:srgbClr val="C7D2FE"/>
                </a:solidFill>
                <a:latin typeface="Calibri" pitchFamily="34" charset="0"/>
                <a:ea typeface="Calibri" pitchFamily="34" charset="-122"/>
                <a:cs typeface="Calibri" pitchFamily="34" charset="-120"/>
              </a:rPr>
              <a:t>[ 2-4 Members ]</a:t>
            </a:r>
            <a:endParaRPr lang="en-US" sz="1300" dirty="0"/>
          </a:p>
        </p:txBody>
      </p:sp>
      <p:sp>
        <p:nvSpPr>
          <p:cNvPr id="23" name="Shape 18"/>
          <p:cNvSpPr/>
          <p:nvPr/>
        </p:nvSpPr>
        <p:spPr>
          <a:xfrm>
            <a:off x="777240" y="5733288"/>
            <a:ext cx="7863840" cy="0"/>
          </a:xfrm>
          <a:prstGeom prst="line">
            <a:avLst/>
          </a:prstGeom>
          <a:noFill/>
          <a:ln w="12700">
            <a:solidFill>
              <a:srgbClr val="94A3B8">
                <a:alpha val="40000"/>
              </a:srgbClr>
            </a:solidFill>
            <a:prstDash val="solid"/>
          </a:ln>
        </p:spPr>
        <p:txBody>
          <a:bodyPr/>
          <a:lstStyle/>
          <a:p>
            <a:endParaRPr lang="en-IN"/>
          </a:p>
        </p:txBody>
      </p:sp>
      <p:sp>
        <p:nvSpPr>
          <p:cNvPr id="24" name="Text 19"/>
          <p:cNvSpPr/>
          <p:nvPr/>
        </p:nvSpPr>
        <p:spPr>
          <a:xfrm>
            <a:off x="777240" y="5870448"/>
            <a:ext cx="786384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Powering Predictive Intelligence  —  A PredictX Campus Hackathon Submission</a:t>
            </a:r>
            <a:endParaRPr lang="en-US" sz="1200" dirty="0"/>
          </a:p>
        </p:txBody>
      </p:sp>
      <p:sp>
        <p:nvSpPr>
          <p:cNvPr id="26" name="Text 20"/>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27" name="Text 21"/>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
        <p:nvSpPr>
          <p:cNvPr id="25" name="Shape 10">
            <a:extLst>
              <a:ext uri="{FF2B5EF4-FFF2-40B4-BE49-F238E27FC236}">
                <a16:creationId xmlns:a16="http://schemas.microsoft.com/office/drawing/2014/main" id="{5EABB57D-58A4-9B75-5234-B02943187FFD}"/>
              </a:ext>
            </a:extLst>
          </p:cNvPr>
          <p:cNvSpPr/>
          <p:nvPr/>
        </p:nvSpPr>
        <p:spPr>
          <a:xfrm>
            <a:off x="777240" y="4041647"/>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28" name="Text 11">
            <a:extLst>
              <a:ext uri="{FF2B5EF4-FFF2-40B4-BE49-F238E27FC236}">
                <a16:creationId xmlns:a16="http://schemas.microsoft.com/office/drawing/2014/main" id="{D77FE9ED-D43E-F142-B82E-BA1BAAE15F6A}"/>
              </a:ext>
            </a:extLst>
          </p:cNvPr>
          <p:cNvSpPr/>
          <p:nvPr/>
        </p:nvSpPr>
        <p:spPr>
          <a:xfrm>
            <a:off x="937260" y="4032504"/>
            <a:ext cx="3520440" cy="384048"/>
          </a:xfrm>
          <a:prstGeom prst="rect">
            <a:avLst/>
          </a:prstGeom>
          <a:noFill/>
          <a:ln/>
        </p:spPr>
        <p:txBody>
          <a:bodyPr wrap="square" lIns="0" tIns="0" rIns="0" bIns="0" rtlCol="0" anchor="ctr"/>
          <a:lstStyle/>
          <a:p>
            <a:pPr marL="0" indent="0">
              <a:buNone/>
            </a:pPr>
            <a:r>
              <a:rPr lang="en-IN" sz="1150" dirty="0">
                <a:solidFill>
                  <a:srgbClr val="C7D2FE"/>
                </a:solidFill>
                <a:latin typeface="Calibri" pitchFamily="34" charset="0"/>
                <a:ea typeface="Calibri" pitchFamily="34" charset="-122"/>
                <a:cs typeface="Calibri" pitchFamily="34" charset="-120"/>
              </a:rPr>
              <a:t>Agentic Engineering &amp; Digital Lifecycle</a:t>
            </a:r>
          </a:p>
        </p:txBody>
      </p:sp>
      <p:sp>
        <p:nvSpPr>
          <p:cNvPr id="29" name="Text 11">
            <a:extLst>
              <a:ext uri="{FF2B5EF4-FFF2-40B4-BE49-F238E27FC236}">
                <a16:creationId xmlns:a16="http://schemas.microsoft.com/office/drawing/2014/main" id="{A71B8539-7D23-4111-B1C2-5C7988FA6ED9}"/>
              </a:ext>
            </a:extLst>
          </p:cNvPr>
          <p:cNvSpPr/>
          <p:nvPr/>
        </p:nvSpPr>
        <p:spPr>
          <a:xfrm>
            <a:off x="4892040" y="4072772"/>
            <a:ext cx="3520440" cy="384048"/>
          </a:xfrm>
          <a:prstGeom prst="rect">
            <a:avLst/>
          </a:prstGeom>
          <a:noFill/>
          <a:ln/>
        </p:spPr>
        <p:txBody>
          <a:bodyPr wrap="square" lIns="0" tIns="0" rIns="0" bIns="0" rtlCol="0" anchor="ctr"/>
          <a:lstStyle/>
          <a:p>
            <a:pPr marL="0" indent="0">
              <a:buNone/>
            </a:pPr>
            <a:r>
              <a:rPr lang="en-IN" sz="1150" dirty="0">
                <a:solidFill>
                  <a:srgbClr val="C7D2FE"/>
                </a:solidFill>
                <a:latin typeface="Calibri" pitchFamily="34" charset="0"/>
                <a:ea typeface="Calibri" pitchFamily="34" charset="-122"/>
                <a:cs typeface="Calibri" pitchFamily="34" charset="-120"/>
              </a:rPr>
              <a:t>Data-to-Decisions AI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3B"/>
        </a:solidFill>
        <a:effectLst/>
      </p:bgPr>
    </p:bg>
    <p:spTree>
      <p:nvGrpSpPr>
        <p:cNvPr id="1" name=""/>
        <p:cNvGrpSpPr/>
        <p:nvPr/>
      </p:nvGrpSpPr>
      <p:grpSpPr>
        <a:xfrm>
          <a:off x="0" y="0"/>
          <a:ext cx="0" cy="0"/>
          <a:chOff x="0" y="0"/>
          <a:chExt cx="0" cy="0"/>
        </a:xfrm>
      </p:grpSpPr>
      <p:sp>
        <p:nvSpPr>
          <p:cNvPr id="7" name="Shape 4"/>
          <p:cNvSpPr/>
          <p:nvPr/>
        </p:nvSpPr>
        <p:spPr>
          <a:xfrm>
            <a:off x="205740" y="699516"/>
            <a:ext cx="10881360" cy="1188720"/>
          </a:xfrm>
          <a:prstGeom prst="roundRect">
            <a:avLst>
              <a:gd name="adj" fmla="val 6154"/>
            </a:avLst>
          </a:prstGeom>
          <a:solidFill>
            <a:srgbClr val="242A52"/>
          </a:solidFill>
          <a:ln w="12700">
            <a:solidFill>
              <a:srgbClr val="94A3B8"/>
            </a:solidFill>
            <a:prstDash val="dash"/>
          </a:ln>
        </p:spPr>
        <p:txBody>
          <a:bodyPr/>
          <a:lstStyle/>
          <a:p>
            <a:endParaRPr lang="en-IN"/>
          </a:p>
        </p:txBody>
      </p:sp>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228600" y="1143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Idea Title</a:t>
            </a:r>
            <a:endParaRPr lang="en-US" sz="3000" dirty="0"/>
          </a:p>
        </p:txBody>
      </p:sp>
      <p:sp>
        <p:nvSpPr>
          <p:cNvPr id="5" name="Text 3"/>
          <p:cNvSpPr/>
          <p:nvPr/>
        </p:nvSpPr>
        <p:spPr>
          <a:xfrm>
            <a:off x="365760" y="82296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What real-world problem are you solving, and for whom?</a:t>
            </a:r>
            <a:endParaRPr lang="en-US" sz="1350" dirty="0"/>
          </a:p>
        </p:txBody>
      </p:sp>
      <p:sp>
        <p:nvSpPr>
          <p:cNvPr id="8" name="Text 5"/>
          <p:cNvSpPr/>
          <p:nvPr/>
        </p:nvSpPr>
        <p:spPr>
          <a:xfrm>
            <a:off x="365760" y="1234440"/>
            <a:ext cx="10424160" cy="859536"/>
          </a:xfrm>
          <a:prstGeom prst="rect">
            <a:avLst/>
          </a:prstGeom>
          <a:noFill/>
          <a:ln/>
        </p:spPr>
        <p:txBody>
          <a:bodyPr wrap="square" lIns="0" tIns="0" rIns="0" bIns="0" rtlCol="0" anchor="t"/>
          <a:lstStyle/>
          <a:p>
            <a:pPr marL="0" indent="0">
              <a:lnSpc>
                <a:spcPct val="125000"/>
              </a:lnSpc>
              <a:buNone/>
            </a:pPr>
            <a:r>
              <a:rPr lang="en-US" sz="1400" i="1" dirty="0">
                <a:solidFill>
                  <a:srgbClr val="94A3B8"/>
                </a:solidFill>
                <a:latin typeface="Calibri" pitchFamily="34" charset="0"/>
                <a:ea typeface="Calibri" pitchFamily="34" charset="-122"/>
                <a:cs typeface="Calibri" pitchFamily="34" charset="-120"/>
              </a:rPr>
              <a:t>[ In 2-3 sentences: describe the specific problem in your chosen theme area — e.g. undetected switchgear degradation, unnecessary cooling energy use, unplanned asset failure, or lack of unified analytics. ]</a:t>
            </a:r>
            <a:endParaRPr lang="en-US" sz="1400" dirty="0"/>
          </a:p>
        </p:txBody>
      </p:sp>
      <p:sp>
        <p:nvSpPr>
          <p:cNvPr id="18" name="Text 15"/>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19" name="Text 1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
        <p:nvSpPr>
          <p:cNvPr id="22" name="Shape 7">
            <a:extLst>
              <a:ext uri="{FF2B5EF4-FFF2-40B4-BE49-F238E27FC236}">
                <a16:creationId xmlns:a16="http://schemas.microsoft.com/office/drawing/2014/main" id="{1D2278B0-1A9E-D333-EAF6-9B1E1C6D44D6}"/>
              </a:ext>
            </a:extLst>
          </p:cNvPr>
          <p:cNvSpPr/>
          <p:nvPr/>
        </p:nvSpPr>
        <p:spPr>
          <a:xfrm>
            <a:off x="228600" y="2020062"/>
            <a:ext cx="4744720" cy="4312158"/>
          </a:xfrm>
          <a:prstGeom prst="roundRect">
            <a:avLst>
              <a:gd name="adj" fmla="val 2286"/>
            </a:avLst>
          </a:prstGeom>
          <a:solidFill>
            <a:srgbClr val="242A52"/>
          </a:solidFill>
          <a:ln w="12700">
            <a:solidFill>
              <a:srgbClr val="94A3B8"/>
            </a:solidFill>
            <a:prstDash val="dash"/>
          </a:ln>
        </p:spPr>
        <p:txBody>
          <a:bodyPr/>
          <a:lstStyle/>
          <a:p>
            <a:endParaRPr lang="en-IN"/>
          </a:p>
        </p:txBody>
      </p:sp>
      <p:sp>
        <p:nvSpPr>
          <p:cNvPr id="23" name="Text 8">
            <a:extLst>
              <a:ext uri="{FF2B5EF4-FFF2-40B4-BE49-F238E27FC236}">
                <a16:creationId xmlns:a16="http://schemas.microsoft.com/office/drawing/2014/main" id="{F702F55C-C5BB-143B-28A7-765BBA5CF38B}"/>
              </a:ext>
            </a:extLst>
          </p:cNvPr>
          <p:cNvSpPr/>
          <p:nvPr/>
        </p:nvSpPr>
        <p:spPr>
          <a:xfrm>
            <a:off x="457200" y="2359152"/>
            <a:ext cx="4231640" cy="2871216"/>
          </a:xfrm>
          <a:prstGeom prst="rect">
            <a:avLst/>
          </a:prstGeom>
          <a:noFill/>
          <a:ln/>
        </p:spPr>
        <p:txBody>
          <a:bodyPr wrap="square" lIns="0" tIns="0" rIns="0" bIns="0" rtlCol="0" anchor="t"/>
          <a:lstStyle/>
          <a:p>
            <a:pPr marL="0" indent="0">
              <a:lnSpc>
                <a:spcPct val="125000"/>
              </a:lnSpc>
              <a:buNone/>
            </a:pPr>
            <a:r>
              <a:rPr lang="en-US" sz="1300" i="1" dirty="0">
                <a:solidFill>
                  <a:srgbClr val="94A3B8"/>
                </a:solidFill>
                <a:latin typeface="Calibri" pitchFamily="34" charset="0"/>
                <a:ea typeface="Calibri" pitchFamily="34" charset="-122"/>
                <a:cs typeface="Calibri" pitchFamily="34" charset="-120"/>
              </a:rPr>
              <a:t>[ Describe your solution in detail: what it does, how a user interacts with it, and what output it produces (e.g. a risk score, an alert, a savings estimate, a dashboard). Include a simple diagram, flowchart, or mockup image on this slide if you have one — it strengthens your prototype-quality score. ]</a:t>
            </a:r>
            <a:endParaRPr lang="en-US" sz="1300" dirty="0"/>
          </a:p>
        </p:txBody>
      </p:sp>
      <p:sp>
        <p:nvSpPr>
          <p:cNvPr id="24" name="Shape 29">
            <a:extLst>
              <a:ext uri="{FF2B5EF4-FFF2-40B4-BE49-F238E27FC236}">
                <a16:creationId xmlns:a16="http://schemas.microsoft.com/office/drawing/2014/main" id="{3D877865-455F-0821-DF26-7DDB7DF9C3A3}"/>
              </a:ext>
            </a:extLst>
          </p:cNvPr>
          <p:cNvSpPr/>
          <p:nvPr/>
        </p:nvSpPr>
        <p:spPr>
          <a:xfrm>
            <a:off x="5270500" y="2020062"/>
            <a:ext cx="4569460" cy="4312158"/>
          </a:xfrm>
          <a:prstGeom prst="roundRect">
            <a:avLst>
              <a:gd name="adj" fmla="val 3200"/>
            </a:avLst>
          </a:prstGeom>
          <a:solidFill>
            <a:srgbClr val="242A52"/>
          </a:solidFill>
          <a:ln w="12700">
            <a:solidFill>
              <a:srgbClr val="94A3B8"/>
            </a:solidFill>
            <a:prstDash val="dash"/>
          </a:ln>
        </p:spPr>
        <p:txBody>
          <a:bodyPr/>
          <a:lstStyle/>
          <a:p>
            <a:endParaRPr lang="en-IN"/>
          </a:p>
        </p:txBody>
      </p:sp>
      <p:sp>
        <p:nvSpPr>
          <p:cNvPr id="25" name="Text 30">
            <a:extLst>
              <a:ext uri="{FF2B5EF4-FFF2-40B4-BE49-F238E27FC236}">
                <a16:creationId xmlns:a16="http://schemas.microsoft.com/office/drawing/2014/main" id="{31645C2D-07B7-A3BB-18C9-ED97BE37A7DD}"/>
              </a:ext>
            </a:extLst>
          </p:cNvPr>
          <p:cNvSpPr/>
          <p:nvPr/>
        </p:nvSpPr>
        <p:spPr>
          <a:xfrm>
            <a:off x="5521960" y="2265426"/>
            <a:ext cx="4170680" cy="2779776"/>
          </a:xfrm>
          <a:prstGeom prst="rect">
            <a:avLst/>
          </a:prstGeom>
          <a:noFill/>
          <a:ln/>
        </p:spPr>
        <p:txBody>
          <a:bodyPr wrap="square" lIns="0" tIns="0" rIns="0" bIns="0" rtlCol="0" anchor="t"/>
          <a:lstStyle/>
          <a:p>
            <a:pPr marL="0" indent="0">
              <a:lnSpc>
                <a:spcPct val="125000"/>
              </a:lnSpc>
              <a:buNone/>
            </a:pPr>
            <a:r>
              <a:rPr lang="en-US" sz="1300" i="1" dirty="0">
                <a:solidFill>
                  <a:srgbClr val="94A3B8"/>
                </a:solidFill>
                <a:latin typeface="Calibri" pitchFamily="34" charset="0"/>
                <a:ea typeface="Calibri" pitchFamily="34" charset="-122"/>
                <a:cs typeface="Calibri" pitchFamily="34" charset="-120"/>
              </a:rPr>
              <a:t>[ Explain your technical approach in more depth: which model/algorithm family you're using (or plan to use), what makes it suited to this problem, how you validate accuracy, and what data you used or need access to. If you have early results or accuracy numbers, include them here — this is the most heavily weighted section of the pitch. ]</a:t>
            </a:r>
            <a:endParaRPr lang="en-US" sz="1300" dirty="0"/>
          </a:p>
        </p:txBody>
      </p:sp>
      <p:sp>
        <p:nvSpPr>
          <p:cNvPr id="26" name="Shape 29">
            <a:extLst>
              <a:ext uri="{FF2B5EF4-FFF2-40B4-BE49-F238E27FC236}">
                <a16:creationId xmlns:a16="http://schemas.microsoft.com/office/drawing/2014/main" id="{B233D944-B35E-C769-C3E2-552766FEA38C}"/>
              </a:ext>
            </a:extLst>
          </p:cNvPr>
          <p:cNvSpPr/>
          <p:nvPr/>
        </p:nvSpPr>
        <p:spPr>
          <a:xfrm>
            <a:off x="10027920" y="2002536"/>
            <a:ext cx="1976120" cy="4312158"/>
          </a:xfrm>
          <a:prstGeom prst="roundRect">
            <a:avLst>
              <a:gd name="adj" fmla="val 3200"/>
            </a:avLst>
          </a:prstGeom>
          <a:solidFill>
            <a:srgbClr val="242A52"/>
          </a:solidFill>
          <a:ln w="12700">
            <a:solidFill>
              <a:srgbClr val="94A3B8"/>
            </a:solidFill>
            <a:prstDash val="dash"/>
          </a:ln>
        </p:spPr>
        <p:txBody>
          <a:bodyPr/>
          <a:lstStyle/>
          <a:p>
            <a:endParaRPr lang="en-IN"/>
          </a:p>
        </p:txBody>
      </p:sp>
      <p:pic>
        <p:nvPicPr>
          <p:cNvPr id="27" name="Image 1" descr="icons/microchip_cyan.png">
            <a:extLst>
              <a:ext uri="{FF2B5EF4-FFF2-40B4-BE49-F238E27FC236}">
                <a16:creationId xmlns:a16="http://schemas.microsoft.com/office/drawing/2014/main" id="{D8AD460F-E59C-3114-90F8-542E8D894683}"/>
              </a:ext>
            </a:extLst>
          </p:cNvPr>
          <p:cNvPicPr>
            <a:picLocks noChangeAspect="1"/>
          </p:cNvPicPr>
          <p:nvPr/>
        </p:nvPicPr>
        <p:blipFill>
          <a:blip r:embed="rId3"/>
          <a:stretch>
            <a:fillRect/>
          </a:stretch>
        </p:blipFill>
        <p:spPr>
          <a:xfrm>
            <a:off x="10137140" y="2182876"/>
            <a:ext cx="365760" cy="365760"/>
          </a:xfrm>
          <a:prstGeom prst="rect">
            <a:avLst/>
          </a:prstGeom>
        </p:spPr>
      </p:pic>
      <p:sp>
        <p:nvSpPr>
          <p:cNvPr id="28" name="Text 5">
            <a:extLst>
              <a:ext uri="{FF2B5EF4-FFF2-40B4-BE49-F238E27FC236}">
                <a16:creationId xmlns:a16="http://schemas.microsoft.com/office/drawing/2014/main" id="{6A12354D-A857-3690-0C92-9FFB9E21481C}"/>
              </a:ext>
            </a:extLst>
          </p:cNvPr>
          <p:cNvSpPr/>
          <p:nvPr/>
        </p:nvSpPr>
        <p:spPr>
          <a:xfrm>
            <a:off x="10594340" y="2182876"/>
            <a:ext cx="12928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TECH STACK</a:t>
            </a:r>
            <a:endParaRPr lang="en-US" sz="1300" dirty="0"/>
          </a:p>
        </p:txBody>
      </p:sp>
      <p:sp>
        <p:nvSpPr>
          <p:cNvPr id="29" name="Text 7">
            <a:extLst>
              <a:ext uri="{FF2B5EF4-FFF2-40B4-BE49-F238E27FC236}">
                <a16:creationId xmlns:a16="http://schemas.microsoft.com/office/drawing/2014/main" id="{F86FEDF1-0A46-DBFA-FA2F-152CE6D8FE4E}"/>
              </a:ext>
            </a:extLst>
          </p:cNvPr>
          <p:cNvSpPr/>
          <p:nvPr/>
        </p:nvSpPr>
        <p:spPr>
          <a:xfrm>
            <a:off x="10365740" y="2850388"/>
            <a:ext cx="1521460" cy="2368296"/>
          </a:xfrm>
          <a:prstGeom prst="rect">
            <a:avLst/>
          </a:prstGeom>
          <a:noFill/>
          <a:ln/>
        </p:spPr>
        <p:txBody>
          <a:bodyPr wrap="square" lIns="0" tIns="0" rIns="0" bIns="0" rtlCol="0" anchor="t"/>
          <a:lstStyle/>
          <a:p>
            <a:pPr marL="0" indent="0">
              <a:lnSpc>
                <a:spcPct val="125000"/>
              </a:lnSpc>
              <a:buNone/>
            </a:pPr>
            <a:r>
              <a:rPr lang="en-US" sz="1300" i="1" dirty="0">
                <a:solidFill>
                  <a:srgbClr val="94A3B8"/>
                </a:solidFill>
                <a:latin typeface="Calibri" pitchFamily="34" charset="0"/>
                <a:ea typeface="Calibri" pitchFamily="34" charset="-122"/>
                <a:cs typeface="Calibri" pitchFamily="34" charset="-120"/>
              </a:rPr>
              <a:t>[ List languages, frameworks, ML libraries, cloud/edge platforms, and any hardware/sensors involved — e.g. Python, PyTorch, AWS, IoT sensors, etc.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Innovation &amp; Differentiation</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What makes your approach genuinely new?</a:t>
            </a:r>
            <a:endParaRPr lang="en-US" sz="1350" dirty="0"/>
          </a:p>
        </p:txBody>
      </p:sp>
      <p:sp>
        <p:nvSpPr>
          <p:cNvPr id="6" name="Shape 4"/>
          <p:cNvSpPr/>
          <p:nvPr/>
        </p:nvSpPr>
        <p:spPr>
          <a:xfrm>
            <a:off x="8869680" y="502920"/>
            <a:ext cx="2331720" cy="384048"/>
          </a:xfrm>
          <a:prstGeom prst="roundRect">
            <a:avLst>
              <a:gd name="adj" fmla="val 50000"/>
            </a:avLst>
          </a:prstGeom>
          <a:solidFill>
            <a:srgbClr val="22D3EE">
              <a:alpha val="15000"/>
            </a:srgbClr>
          </a:solidFill>
          <a:ln w="12700">
            <a:solidFill>
              <a:srgbClr val="22D3EE"/>
            </a:solidFill>
            <a:prstDash val="solid"/>
          </a:ln>
        </p:spPr>
        <p:txBody>
          <a:bodyPr/>
          <a:lstStyle/>
          <a:p>
            <a:endParaRPr lang="en-IN"/>
          </a:p>
        </p:txBody>
      </p:sp>
      <p:sp>
        <p:nvSpPr>
          <p:cNvPr id="7" name="Text 5"/>
          <p:cNvSpPr/>
          <p:nvPr/>
        </p:nvSpPr>
        <p:spPr>
          <a:xfrm>
            <a:off x="8869680" y="502920"/>
            <a:ext cx="2331720" cy="384048"/>
          </a:xfrm>
          <a:prstGeom prst="rect">
            <a:avLst/>
          </a:prstGeom>
          <a:noFill/>
          <a:ln/>
        </p:spPr>
        <p:txBody>
          <a:bodyPr wrap="square" lIns="0" tIns="0" rIns="0" bIns="0" rtlCol="0" anchor="ctr"/>
          <a:lstStyle/>
          <a:p>
            <a:pPr marL="0" indent="0" algn="ctr">
              <a:buNone/>
            </a:pPr>
            <a:r>
              <a:rPr lang="en-US" sz="1050" b="1" kern="0" spc="50" dirty="0">
                <a:solidFill>
                  <a:srgbClr val="22D3EE"/>
                </a:solidFill>
                <a:latin typeface="Calibri" pitchFamily="34" charset="0"/>
                <a:ea typeface="Calibri" pitchFamily="34" charset="-122"/>
                <a:cs typeface="Calibri" pitchFamily="34" charset="-120"/>
              </a:rPr>
              <a:t>INNOVATION &amp; ORIGINALITY · 25%</a:t>
            </a:r>
            <a:endParaRPr lang="en-US" sz="1050" dirty="0"/>
          </a:p>
        </p:txBody>
      </p:sp>
      <p:pic>
        <p:nvPicPr>
          <p:cNvPr id="8" name="Image 0" descr="icons/bolt_cyan.png"/>
          <p:cNvPicPr>
            <a:picLocks noChangeAspect="1"/>
          </p:cNvPicPr>
          <p:nvPr/>
        </p:nvPicPr>
        <p:blipFill>
          <a:blip r:embed="rId3"/>
          <a:stretch>
            <a:fillRect/>
          </a:stretch>
        </p:blipFill>
        <p:spPr>
          <a:xfrm>
            <a:off x="9784080" y="1005840"/>
            <a:ext cx="1371600" cy="1371600"/>
          </a:xfrm>
          <a:prstGeom prst="rect">
            <a:avLst/>
          </a:prstGeom>
        </p:spPr>
      </p:pic>
      <p:sp>
        <p:nvSpPr>
          <p:cNvPr id="9" name="Shape 6"/>
          <p:cNvSpPr/>
          <p:nvPr/>
        </p:nvSpPr>
        <p:spPr>
          <a:xfrm>
            <a:off x="640080" y="1874520"/>
            <a:ext cx="5120640" cy="3566160"/>
          </a:xfrm>
          <a:prstGeom prst="roundRect">
            <a:avLst>
              <a:gd name="adj" fmla="val 2308"/>
            </a:avLst>
          </a:prstGeom>
          <a:solidFill>
            <a:srgbClr val="2C3260"/>
          </a:solidFill>
          <a:ln/>
        </p:spPr>
        <p:txBody>
          <a:bodyPr/>
          <a:lstStyle/>
          <a:p>
            <a:endParaRPr lang="en-IN"/>
          </a:p>
        </p:txBody>
      </p:sp>
      <p:sp>
        <p:nvSpPr>
          <p:cNvPr id="10" name="Text 7"/>
          <p:cNvSpPr/>
          <p:nvPr/>
        </p:nvSpPr>
        <p:spPr>
          <a:xfrm>
            <a:off x="868680" y="2057400"/>
            <a:ext cx="4663440" cy="274320"/>
          </a:xfrm>
          <a:prstGeom prst="rect">
            <a:avLst/>
          </a:prstGeom>
          <a:noFill/>
          <a:ln/>
        </p:spPr>
        <p:txBody>
          <a:bodyPr wrap="square" lIns="0" tIns="0" rIns="0" bIns="0" rtlCol="0" anchor="ctr"/>
          <a:lstStyle/>
          <a:p>
            <a:pPr marL="0" indent="0">
              <a:buNone/>
            </a:pPr>
            <a:r>
              <a:rPr lang="en-US" sz="1150" b="1" kern="0" spc="100" dirty="0">
                <a:solidFill>
                  <a:srgbClr val="94A3B8"/>
                </a:solidFill>
                <a:latin typeface="Calibri" pitchFamily="34" charset="0"/>
                <a:ea typeface="Calibri" pitchFamily="34" charset="-122"/>
                <a:cs typeface="Calibri" pitchFamily="34" charset="-120"/>
              </a:rPr>
              <a:t>TODAY'S APPROACH</a:t>
            </a:r>
            <a:endParaRPr lang="en-US" sz="1150" dirty="0"/>
          </a:p>
        </p:txBody>
      </p:sp>
      <p:sp>
        <p:nvSpPr>
          <p:cNvPr id="11" name="Text 8"/>
          <p:cNvSpPr/>
          <p:nvPr/>
        </p:nvSpPr>
        <p:spPr>
          <a:xfrm>
            <a:off x="868680" y="2423160"/>
            <a:ext cx="4663440" cy="2743200"/>
          </a:xfrm>
          <a:prstGeom prst="rect">
            <a:avLst/>
          </a:prstGeom>
          <a:noFill/>
          <a:ln/>
        </p:spPr>
        <p:txBody>
          <a:bodyPr wrap="square" lIns="0" tIns="0" rIns="0" bIns="0" rtlCol="0" anchor="t"/>
          <a:lstStyle/>
          <a:p>
            <a:pPr marL="0" indent="0">
              <a:lnSpc>
                <a:spcPct val="120000"/>
              </a:lnSpc>
              <a:buNone/>
            </a:pPr>
            <a:r>
              <a:rPr lang="en-US" sz="1250" i="1" dirty="0">
                <a:solidFill>
                  <a:srgbClr val="C7D2FE"/>
                </a:solidFill>
                <a:latin typeface="Calibri" pitchFamily="34" charset="0"/>
                <a:ea typeface="Calibri" pitchFamily="34" charset="-122"/>
                <a:cs typeface="Calibri" pitchFamily="34" charset="-120"/>
              </a:rPr>
              <a:t>[ How is this problem typically solved today — manual inspection, fixed schedules, generic thresholds, no prediction at all? ]</a:t>
            </a:r>
            <a:endParaRPr lang="en-US" sz="1250" dirty="0"/>
          </a:p>
        </p:txBody>
      </p:sp>
      <p:sp>
        <p:nvSpPr>
          <p:cNvPr id="12" name="Shape 9"/>
          <p:cNvSpPr/>
          <p:nvPr/>
        </p:nvSpPr>
        <p:spPr>
          <a:xfrm>
            <a:off x="6035040" y="1874520"/>
            <a:ext cx="5120640" cy="3566160"/>
          </a:xfrm>
          <a:prstGeom prst="roundRect">
            <a:avLst>
              <a:gd name="adj" fmla="val 2308"/>
            </a:avLst>
          </a:prstGeom>
          <a:solidFill>
            <a:srgbClr val="242A52"/>
          </a:solidFill>
          <a:ln w="15875">
            <a:solidFill>
              <a:srgbClr val="22D3EE"/>
            </a:solidFill>
            <a:prstDash val="solid"/>
          </a:ln>
          <a:effectLst>
            <a:outerShdw blurRad="127000" dist="38100" dir="5400000" algn="bl" rotWithShape="0">
              <a:srgbClr val="000000">
                <a:alpha val="30000"/>
              </a:srgbClr>
            </a:outerShdw>
          </a:effectLst>
        </p:spPr>
        <p:txBody>
          <a:bodyPr/>
          <a:lstStyle/>
          <a:p>
            <a:endParaRPr lang="en-IN"/>
          </a:p>
        </p:txBody>
      </p:sp>
      <p:sp>
        <p:nvSpPr>
          <p:cNvPr id="13" name="Text 10"/>
          <p:cNvSpPr/>
          <p:nvPr/>
        </p:nvSpPr>
        <p:spPr>
          <a:xfrm>
            <a:off x="6263640" y="2057400"/>
            <a:ext cx="4663440" cy="274320"/>
          </a:xfrm>
          <a:prstGeom prst="rect">
            <a:avLst/>
          </a:prstGeom>
          <a:noFill/>
          <a:ln/>
        </p:spPr>
        <p:txBody>
          <a:bodyPr wrap="square" lIns="0" tIns="0" rIns="0" bIns="0" rtlCol="0" anchor="ctr"/>
          <a:lstStyle/>
          <a:p>
            <a:pPr marL="0" indent="0">
              <a:buNone/>
            </a:pPr>
            <a:r>
              <a:rPr lang="en-US" sz="1150" b="1" kern="0" spc="100" dirty="0">
                <a:solidFill>
                  <a:srgbClr val="22D3EE"/>
                </a:solidFill>
                <a:latin typeface="Calibri" pitchFamily="34" charset="0"/>
                <a:ea typeface="Calibri" pitchFamily="34" charset="-122"/>
                <a:cs typeface="Calibri" pitchFamily="34" charset="-120"/>
              </a:rPr>
              <a:t>YOUR APPROACH</a:t>
            </a:r>
            <a:endParaRPr lang="en-US" sz="1150" dirty="0"/>
          </a:p>
        </p:txBody>
      </p:sp>
      <p:sp>
        <p:nvSpPr>
          <p:cNvPr id="14" name="Text 11"/>
          <p:cNvSpPr/>
          <p:nvPr/>
        </p:nvSpPr>
        <p:spPr>
          <a:xfrm>
            <a:off x="6263640" y="2423160"/>
            <a:ext cx="4663440" cy="2743200"/>
          </a:xfrm>
          <a:prstGeom prst="rect">
            <a:avLst/>
          </a:prstGeom>
          <a:noFill/>
          <a:ln/>
        </p:spPr>
        <p:txBody>
          <a:bodyPr wrap="square" lIns="0" tIns="0" rIns="0" bIns="0" rtlCol="0" anchor="t"/>
          <a:lstStyle/>
          <a:p>
            <a:pPr marL="0" indent="0">
              <a:lnSpc>
                <a:spcPct val="120000"/>
              </a:lnSpc>
              <a:buNone/>
            </a:pPr>
            <a:r>
              <a:rPr lang="en-US" sz="1250" i="1" dirty="0">
                <a:solidFill>
                  <a:srgbClr val="FFFFFF"/>
                </a:solidFill>
                <a:latin typeface="Calibri" pitchFamily="34" charset="0"/>
                <a:ea typeface="Calibri" pitchFamily="34" charset="-122"/>
                <a:cs typeface="Calibri" pitchFamily="34" charset="-120"/>
              </a:rPr>
              <a:t>[ What specifically is different — a novel data signal, a lighter-weight model, a new combination of methods, faster inference, easier deployment? Name 2-3 concrete differentiators. ]</a:t>
            </a:r>
            <a:endParaRPr lang="en-US" sz="1250" dirty="0"/>
          </a:p>
        </p:txBody>
      </p:sp>
      <p:sp>
        <p:nvSpPr>
          <p:cNvPr id="15" name="Text 12"/>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16" name="Text 13"/>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Prototype &amp; Demo</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Show, don't just tell — this is your proof of feasibility</a:t>
            </a:r>
            <a:endParaRPr lang="en-US" sz="1350" dirty="0"/>
          </a:p>
        </p:txBody>
      </p:sp>
      <p:sp>
        <p:nvSpPr>
          <p:cNvPr id="6" name="Shape 4"/>
          <p:cNvSpPr/>
          <p:nvPr/>
        </p:nvSpPr>
        <p:spPr>
          <a:xfrm>
            <a:off x="8732520" y="502920"/>
            <a:ext cx="2331720" cy="384048"/>
          </a:xfrm>
          <a:prstGeom prst="roundRect">
            <a:avLst>
              <a:gd name="adj" fmla="val 50000"/>
            </a:avLst>
          </a:prstGeom>
          <a:solidFill>
            <a:srgbClr val="22D3EE">
              <a:alpha val="15000"/>
            </a:srgbClr>
          </a:solidFill>
          <a:ln w="12700">
            <a:solidFill>
              <a:srgbClr val="22D3EE"/>
            </a:solidFill>
            <a:prstDash val="solid"/>
          </a:ln>
        </p:spPr>
        <p:txBody>
          <a:bodyPr/>
          <a:lstStyle/>
          <a:p>
            <a:endParaRPr lang="en-IN"/>
          </a:p>
        </p:txBody>
      </p:sp>
      <p:sp>
        <p:nvSpPr>
          <p:cNvPr id="7" name="Text 5"/>
          <p:cNvSpPr/>
          <p:nvPr/>
        </p:nvSpPr>
        <p:spPr>
          <a:xfrm>
            <a:off x="8732520" y="502920"/>
            <a:ext cx="2331720" cy="384048"/>
          </a:xfrm>
          <a:prstGeom prst="rect">
            <a:avLst/>
          </a:prstGeom>
          <a:noFill/>
          <a:ln/>
        </p:spPr>
        <p:txBody>
          <a:bodyPr wrap="square" lIns="0" tIns="0" rIns="0" bIns="0" rtlCol="0" anchor="ctr"/>
          <a:lstStyle/>
          <a:p>
            <a:pPr marL="0" indent="0" algn="ctr">
              <a:buNone/>
            </a:pPr>
            <a:r>
              <a:rPr lang="en-US" sz="1050" b="1" kern="0" spc="50" dirty="0">
                <a:solidFill>
                  <a:srgbClr val="22D3EE"/>
                </a:solidFill>
                <a:latin typeface="Calibri" pitchFamily="34" charset="0"/>
                <a:ea typeface="Calibri" pitchFamily="34" charset="-122"/>
                <a:cs typeface="Calibri" pitchFamily="34" charset="-120"/>
              </a:rPr>
              <a:t>PRESENTATION &amp; PROTOTYPE · 20%</a:t>
            </a:r>
            <a:endParaRPr lang="en-US" sz="1050" dirty="0"/>
          </a:p>
        </p:txBody>
      </p:sp>
      <p:pic>
        <p:nvPicPr>
          <p:cNvPr id="8" name="Image 0" descr="icons/play_cyan.png"/>
          <p:cNvPicPr>
            <a:picLocks noChangeAspect="1"/>
          </p:cNvPicPr>
          <p:nvPr/>
        </p:nvPicPr>
        <p:blipFill>
          <a:blip r:embed="rId3"/>
          <a:stretch>
            <a:fillRect/>
          </a:stretch>
        </p:blipFill>
        <p:spPr>
          <a:xfrm>
            <a:off x="9829800" y="1005840"/>
            <a:ext cx="1371600" cy="1371600"/>
          </a:xfrm>
          <a:prstGeom prst="rect">
            <a:avLst/>
          </a:prstGeom>
        </p:spPr>
      </p:pic>
      <p:sp>
        <p:nvSpPr>
          <p:cNvPr id="9" name="Shape 6"/>
          <p:cNvSpPr/>
          <p:nvPr/>
        </p:nvSpPr>
        <p:spPr>
          <a:xfrm>
            <a:off x="640080" y="1828800"/>
            <a:ext cx="6949440" cy="4114800"/>
          </a:xfrm>
          <a:prstGeom prst="roundRect">
            <a:avLst>
              <a:gd name="adj" fmla="val 2222"/>
            </a:avLst>
          </a:prstGeom>
          <a:solidFill>
            <a:srgbClr val="2C3260"/>
          </a:solidFill>
          <a:ln w="12700">
            <a:solidFill>
              <a:srgbClr val="94A3B8"/>
            </a:solidFill>
            <a:prstDash val="dash"/>
          </a:ln>
        </p:spPr>
        <p:txBody>
          <a:bodyPr/>
          <a:lstStyle/>
          <a:p>
            <a:endParaRPr lang="en-IN"/>
          </a:p>
        </p:txBody>
      </p:sp>
      <p:pic>
        <p:nvPicPr>
          <p:cNvPr id="10" name="Image 1" descr="icons/microchip_muted.png"/>
          <p:cNvPicPr>
            <a:picLocks noChangeAspect="1"/>
          </p:cNvPicPr>
          <p:nvPr/>
        </p:nvPicPr>
        <p:blipFill>
          <a:blip r:embed="rId4"/>
          <a:stretch>
            <a:fillRect/>
          </a:stretch>
        </p:blipFill>
        <p:spPr>
          <a:xfrm>
            <a:off x="3520440" y="3200400"/>
            <a:ext cx="1188720" cy="1188720"/>
          </a:xfrm>
          <a:prstGeom prst="rect">
            <a:avLst/>
          </a:prstGeom>
        </p:spPr>
      </p:pic>
      <p:sp>
        <p:nvSpPr>
          <p:cNvPr id="11" name="Text 7"/>
          <p:cNvSpPr/>
          <p:nvPr/>
        </p:nvSpPr>
        <p:spPr>
          <a:xfrm>
            <a:off x="1005840" y="4572000"/>
            <a:ext cx="6309360" cy="1097280"/>
          </a:xfrm>
          <a:prstGeom prst="rect">
            <a:avLst/>
          </a:prstGeom>
          <a:noFill/>
          <a:ln/>
        </p:spPr>
        <p:txBody>
          <a:bodyPr wrap="square" lIns="0" tIns="0" rIns="0" bIns="0" rtlCol="0" anchor="t"/>
          <a:lstStyle/>
          <a:p>
            <a:pPr marL="0" indent="0" algn="ctr">
              <a:lnSpc>
                <a:spcPct val="120000"/>
              </a:lnSpc>
              <a:buNone/>
            </a:pPr>
            <a:r>
              <a:rPr lang="en-US" sz="1250" i="1" dirty="0">
                <a:solidFill>
                  <a:srgbClr val="94A3B8"/>
                </a:solidFill>
                <a:latin typeface="Calibri" pitchFamily="34" charset="0"/>
                <a:ea typeface="Calibri" pitchFamily="34" charset="-122"/>
                <a:cs typeface="Calibri" pitchFamily="34" charset="-120"/>
              </a:rPr>
              <a:t>[ Replace this box with a screenshot, demo GIF frame, dashboard mockup, or architecture diagram of your working prototype ]</a:t>
            </a:r>
            <a:endParaRPr lang="en-US" sz="1250" dirty="0"/>
          </a:p>
        </p:txBody>
      </p:sp>
      <p:sp>
        <p:nvSpPr>
          <p:cNvPr id="12" name="Shape 8"/>
          <p:cNvSpPr/>
          <p:nvPr/>
        </p:nvSpPr>
        <p:spPr>
          <a:xfrm>
            <a:off x="7818120" y="1828800"/>
            <a:ext cx="3703320" cy="4114800"/>
          </a:xfrm>
          <a:prstGeom prst="roundRect">
            <a:avLst>
              <a:gd name="adj" fmla="val 2469"/>
            </a:avLst>
          </a:prstGeom>
          <a:solidFill>
            <a:srgbClr val="242A52"/>
          </a:solidFill>
          <a:ln/>
        </p:spPr>
        <p:txBody>
          <a:bodyPr/>
          <a:lstStyle/>
          <a:p>
            <a:endParaRPr lang="en-IN"/>
          </a:p>
        </p:txBody>
      </p:sp>
      <p:sp>
        <p:nvSpPr>
          <p:cNvPr id="13" name="Text 9"/>
          <p:cNvSpPr/>
          <p:nvPr/>
        </p:nvSpPr>
        <p:spPr>
          <a:xfrm>
            <a:off x="8046720" y="2011680"/>
            <a:ext cx="3246120" cy="274320"/>
          </a:xfrm>
          <a:prstGeom prst="rect">
            <a:avLst/>
          </a:prstGeom>
          <a:noFill/>
          <a:ln/>
        </p:spPr>
        <p:txBody>
          <a:bodyPr wrap="square" lIns="0" tIns="0" rIns="0" bIns="0" rtlCol="0" anchor="ctr"/>
          <a:lstStyle/>
          <a:p>
            <a:pPr marL="0" indent="0">
              <a:buNone/>
            </a:pPr>
            <a:r>
              <a:rPr lang="en-US" sz="1100" b="1" kern="0" spc="100" dirty="0">
                <a:solidFill>
                  <a:srgbClr val="22D3EE"/>
                </a:solidFill>
                <a:latin typeface="Calibri" pitchFamily="34" charset="0"/>
                <a:ea typeface="Calibri" pitchFamily="34" charset="-122"/>
                <a:cs typeface="Calibri" pitchFamily="34" charset="-120"/>
              </a:rPr>
              <a:t>DEMO NOTES</a:t>
            </a:r>
            <a:endParaRPr lang="en-US" sz="1100" dirty="0"/>
          </a:p>
        </p:txBody>
      </p:sp>
      <p:sp>
        <p:nvSpPr>
          <p:cNvPr id="14" name="Shape 10"/>
          <p:cNvSpPr/>
          <p:nvPr/>
        </p:nvSpPr>
        <p:spPr>
          <a:xfrm>
            <a:off x="8092440" y="2478024"/>
            <a:ext cx="91440" cy="91440"/>
          </a:xfrm>
          <a:prstGeom prst="ellipse">
            <a:avLst/>
          </a:prstGeom>
          <a:solidFill>
            <a:srgbClr val="22D3EE"/>
          </a:solidFill>
          <a:ln/>
        </p:spPr>
        <p:txBody>
          <a:bodyPr/>
          <a:lstStyle/>
          <a:p>
            <a:endParaRPr lang="en-IN"/>
          </a:p>
        </p:txBody>
      </p:sp>
      <p:sp>
        <p:nvSpPr>
          <p:cNvPr id="15" name="Text 11"/>
          <p:cNvSpPr/>
          <p:nvPr/>
        </p:nvSpPr>
        <p:spPr>
          <a:xfrm>
            <a:off x="8275320" y="2359152"/>
            <a:ext cx="3108960" cy="640080"/>
          </a:xfrm>
          <a:prstGeom prst="rect">
            <a:avLst/>
          </a:prstGeom>
          <a:noFill/>
          <a:ln/>
        </p:spPr>
        <p:txBody>
          <a:bodyPr wrap="square" lIns="0" tIns="0" rIns="0" bIns="0" rtlCol="0" anchor="t"/>
          <a:lstStyle/>
          <a:p>
            <a:pPr marL="0" indent="0">
              <a:lnSpc>
                <a:spcPct val="115000"/>
              </a:lnSpc>
              <a:buNone/>
            </a:pPr>
            <a:r>
              <a:rPr lang="en-US" sz="1200" dirty="0">
                <a:solidFill>
                  <a:srgbClr val="C7D2FE"/>
                </a:solidFill>
                <a:latin typeface="Calibri" pitchFamily="34" charset="0"/>
                <a:ea typeface="Calibri" pitchFamily="34" charset="-122"/>
                <a:cs typeface="Calibri" pitchFamily="34" charset="-120"/>
              </a:rPr>
              <a:t>What stage is your prototype at? (concept / wireframe / working demo)</a:t>
            </a:r>
            <a:endParaRPr lang="en-US" sz="1200" dirty="0"/>
          </a:p>
        </p:txBody>
      </p:sp>
      <p:sp>
        <p:nvSpPr>
          <p:cNvPr id="16" name="Shape 12"/>
          <p:cNvSpPr/>
          <p:nvPr/>
        </p:nvSpPr>
        <p:spPr>
          <a:xfrm>
            <a:off x="8092440" y="3346704"/>
            <a:ext cx="91440" cy="91440"/>
          </a:xfrm>
          <a:prstGeom prst="ellipse">
            <a:avLst/>
          </a:prstGeom>
          <a:solidFill>
            <a:srgbClr val="22D3EE"/>
          </a:solidFill>
          <a:ln/>
        </p:spPr>
        <p:txBody>
          <a:bodyPr/>
          <a:lstStyle/>
          <a:p>
            <a:endParaRPr lang="en-IN"/>
          </a:p>
        </p:txBody>
      </p:sp>
      <p:sp>
        <p:nvSpPr>
          <p:cNvPr id="17" name="Text 13"/>
          <p:cNvSpPr/>
          <p:nvPr/>
        </p:nvSpPr>
        <p:spPr>
          <a:xfrm>
            <a:off x="8275320" y="3227832"/>
            <a:ext cx="3108960" cy="640080"/>
          </a:xfrm>
          <a:prstGeom prst="rect">
            <a:avLst/>
          </a:prstGeom>
          <a:noFill/>
          <a:ln/>
        </p:spPr>
        <p:txBody>
          <a:bodyPr wrap="square" lIns="0" tIns="0" rIns="0" bIns="0" rtlCol="0" anchor="t"/>
          <a:lstStyle/>
          <a:p>
            <a:pPr marL="0" indent="0">
              <a:lnSpc>
                <a:spcPct val="115000"/>
              </a:lnSpc>
              <a:buNone/>
            </a:pPr>
            <a:r>
              <a:rPr lang="en-US" sz="1200" dirty="0">
                <a:solidFill>
                  <a:srgbClr val="C7D2FE"/>
                </a:solidFill>
                <a:latin typeface="Calibri" pitchFamily="34" charset="0"/>
                <a:ea typeface="Calibri" pitchFamily="34" charset="-122"/>
                <a:cs typeface="Calibri" pitchFamily="34" charset="-120"/>
              </a:rPr>
              <a:t>What can it actually do today, live?</a:t>
            </a:r>
            <a:endParaRPr lang="en-US" sz="1200" dirty="0"/>
          </a:p>
        </p:txBody>
      </p:sp>
      <p:sp>
        <p:nvSpPr>
          <p:cNvPr id="18" name="Shape 14"/>
          <p:cNvSpPr/>
          <p:nvPr/>
        </p:nvSpPr>
        <p:spPr>
          <a:xfrm>
            <a:off x="8092440" y="4215384"/>
            <a:ext cx="91440" cy="91440"/>
          </a:xfrm>
          <a:prstGeom prst="ellipse">
            <a:avLst/>
          </a:prstGeom>
          <a:solidFill>
            <a:srgbClr val="22D3EE"/>
          </a:solidFill>
          <a:ln/>
        </p:spPr>
        <p:txBody>
          <a:bodyPr/>
          <a:lstStyle/>
          <a:p>
            <a:endParaRPr lang="en-IN"/>
          </a:p>
        </p:txBody>
      </p:sp>
      <p:sp>
        <p:nvSpPr>
          <p:cNvPr id="19" name="Text 15"/>
          <p:cNvSpPr/>
          <p:nvPr/>
        </p:nvSpPr>
        <p:spPr>
          <a:xfrm>
            <a:off x="8275320" y="4096512"/>
            <a:ext cx="3108960" cy="640080"/>
          </a:xfrm>
          <a:prstGeom prst="rect">
            <a:avLst/>
          </a:prstGeom>
          <a:noFill/>
          <a:ln/>
        </p:spPr>
        <p:txBody>
          <a:bodyPr wrap="square" lIns="0" tIns="0" rIns="0" bIns="0" rtlCol="0" anchor="t"/>
          <a:lstStyle/>
          <a:p>
            <a:pPr marL="0" indent="0">
              <a:lnSpc>
                <a:spcPct val="115000"/>
              </a:lnSpc>
              <a:buNone/>
            </a:pPr>
            <a:r>
              <a:rPr lang="en-US" sz="1200" dirty="0">
                <a:solidFill>
                  <a:srgbClr val="C7D2FE"/>
                </a:solidFill>
                <a:latin typeface="Calibri" pitchFamily="34" charset="0"/>
                <a:ea typeface="Calibri" pitchFamily="34" charset="-122"/>
                <a:cs typeface="Calibri" pitchFamily="34" charset="-120"/>
              </a:rPr>
              <a:t>What would the next version add?</a:t>
            </a:r>
            <a:endParaRPr lang="en-US" sz="1200" dirty="0"/>
          </a:p>
        </p:txBody>
      </p:sp>
      <p:sp>
        <p:nvSpPr>
          <p:cNvPr id="20" name="Text 16"/>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21" name="Text 17"/>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Meet the Team</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Cross-disciplinary skills behind the idea</a:t>
            </a:r>
            <a:endParaRPr lang="en-US" sz="1350" dirty="0"/>
          </a:p>
        </p:txBody>
      </p:sp>
      <p:pic>
        <p:nvPicPr>
          <p:cNvPr id="6" name="Image 0" descr="icons/users_cyan.png"/>
          <p:cNvPicPr>
            <a:picLocks noChangeAspect="1"/>
          </p:cNvPicPr>
          <p:nvPr/>
        </p:nvPicPr>
        <p:blipFill>
          <a:blip r:embed="rId3"/>
          <a:stretch>
            <a:fillRect/>
          </a:stretch>
        </p:blipFill>
        <p:spPr>
          <a:xfrm>
            <a:off x="9784080" y="457200"/>
            <a:ext cx="1737360" cy="1737360"/>
          </a:xfrm>
          <a:prstGeom prst="rect">
            <a:avLst/>
          </a:prstGeom>
        </p:spPr>
      </p:pic>
      <p:sp>
        <p:nvSpPr>
          <p:cNvPr id="7" name="Shape 4"/>
          <p:cNvSpPr/>
          <p:nvPr/>
        </p:nvSpPr>
        <p:spPr>
          <a:xfrm>
            <a:off x="64008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8" name="Shape 5"/>
          <p:cNvSpPr/>
          <p:nvPr/>
        </p:nvSpPr>
        <p:spPr>
          <a:xfrm>
            <a:off x="144018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9" name="Image 1" descr="icons/users_muted.png"/>
          <p:cNvPicPr>
            <a:picLocks noChangeAspect="1"/>
          </p:cNvPicPr>
          <p:nvPr/>
        </p:nvPicPr>
        <p:blipFill>
          <a:blip r:embed="rId4"/>
          <a:stretch>
            <a:fillRect/>
          </a:stretch>
        </p:blipFill>
        <p:spPr>
          <a:xfrm>
            <a:off x="1623060" y="2377440"/>
            <a:ext cx="548640" cy="548640"/>
          </a:xfrm>
          <a:prstGeom prst="rect">
            <a:avLst/>
          </a:prstGeom>
        </p:spPr>
      </p:pic>
      <p:sp>
        <p:nvSpPr>
          <p:cNvPr id="10" name="Text 6"/>
          <p:cNvSpPr/>
          <p:nvPr/>
        </p:nvSpPr>
        <p:spPr>
          <a:xfrm>
            <a:off x="777240" y="3291840"/>
            <a:ext cx="2240280" cy="320040"/>
          </a:xfrm>
          <a:prstGeom prst="rect">
            <a:avLst/>
          </a:prstGeom>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 Name ]</a:t>
            </a:r>
            <a:endParaRPr lang="en-US" sz="1300" dirty="0"/>
          </a:p>
        </p:txBody>
      </p:sp>
      <p:sp>
        <p:nvSpPr>
          <p:cNvPr id="11" name="Text 7"/>
          <p:cNvSpPr/>
          <p:nvPr/>
        </p:nvSpPr>
        <p:spPr>
          <a:xfrm>
            <a:off x="777240" y="3611880"/>
            <a:ext cx="2240280" cy="274320"/>
          </a:xfrm>
          <a:prstGeom prst="rect">
            <a:avLst/>
          </a:prstGeom>
          <a:noFill/>
          <a:ln/>
        </p:spPr>
        <p:txBody>
          <a:bodyPr wrap="square" lIns="0" tIns="0" rIns="0" bIns="0" rtlCol="0" anchor="ctr"/>
          <a:lstStyle/>
          <a:p>
            <a:pPr marL="0" indent="0" algn="ctr">
              <a:buNone/>
            </a:pPr>
            <a:r>
              <a:rPr lang="en-US" sz="1100" i="1" dirty="0">
                <a:solidFill>
                  <a:srgbClr val="22D3EE"/>
                </a:solidFill>
                <a:latin typeface="Calibri" pitchFamily="34" charset="0"/>
                <a:ea typeface="Calibri" pitchFamily="34" charset="-122"/>
                <a:cs typeface="Calibri" pitchFamily="34" charset="-120"/>
              </a:rPr>
              <a:t>[ Branch / Year ]</a:t>
            </a:r>
            <a:endParaRPr lang="en-US" sz="1100" dirty="0"/>
          </a:p>
        </p:txBody>
      </p:sp>
      <p:sp>
        <p:nvSpPr>
          <p:cNvPr id="12" name="Text 8"/>
          <p:cNvSpPr/>
          <p:nvPr/>
        </p:nvSpPr>
        <p:spPr>
          <a:xfrm>
            <a:off x="822960" y="3977640"/>
            <a:ext cx="2148840" cy="1051560"/>
          </a:xfrm>
          <a:prstGeom prst="rect">
            <a:avLst/>
          </a:prstGeom>
          <a:noFill/>
          <a:ln/>
        </p:spPr>
        <p:txBody>
          <a:bodyPr wrap="square" lIns="0" tIns="0" rIns="0" bIns="0" rtlCol="0" anchor="t"/>
          <a:lstStyle/>
          <a:p>
            <a:pPr marL="0" indent="0" algn="ctr">
              <a:lnSpc>
                <a:spcPct val="115000"/>
              </a:lnSpc>
              <a:buNone/>
            </a:pPr>
            <a:r>
              <a:rPr lang="en-US" sz="1050" i="1" dirty="0">
                <a:solidFill>
                  <a:srgbClr val="94A3B8"/>
                </a:solidFill>
                <a:latin typeface="Calibri" pitchFamily="34" charset="0"/>
                <a:ea typeface="Calibri" pitchFamily="34" charset="-122"/>
                <a:cs typeface="Calibri" pitchFamily="34" charset="-120"/>
              </a:rPr>
              <a:t>[ Role in this project — e.g. ML modeling, backend, UI, domain research ]</a:t>
            </a:r>
            <a:endParaRPr lang="en-US" sz="1050" dirty="0"/>
          </a:p>
        </p:txBody>
      </p:sp>
      <p:sp>
        <p:nvSpPr>
          <p:cNvPr id="13" name="Shape 9"/>
          <p:cNvSpPr/>
          <p:nvPr/>
        </p:nvSpPr>
        <p:spPr>
          <a:xfrm>
            <a:off x="333756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14" name="Shape 10"/>
          <p:cNvSpPr/>
          <p:nvPr/>
        </p:nvSpPr>
        <p:spPr>
          <a:xfrm>
            <a:off x="413766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15" name="Image 2" descr="icons/users_muted.png"/>
          <p:cNvPicPr>
            <a:picLocks noChangeAspect="1"/>
          </p:cNvPicPr>
          <p:nvPr/>
        </p:nvPicPr>
        <p:blipFill>
          <a:blip r:embed="rId4"/>
          <a:stretch>
            <a:fillRect/>
          </a:stretch>
        </p:blipFill>
        <p:spPr>
          <a:xfrm>
            <a:off x="4320540" y="2377440"/>
            <a:ext cx="548640" cy="548640"/>
          </a:xfrm>
          <a:prstGeom prst="rect">
            <a:avLst/>
          </a:prstGeom>
        </p:spPr>
      </p:pic>
      <p:sp>
        <p:nvSpPr>
          <p:cNvPr id="16" name="Text 11"/>
          <p:cNvSpPr/>
          <p:nvPr/>
        </p:nvSpPr>
        <p:spPr>
          <a:xfrm>
            <a:off x="3474720" y="3291840"/>
            <a:ext cx="2240280" cy="320040"/>
          </a:xfrm>
          <a:prstGeom prst="rect">
            <a:avLst/>
          </a:prstGeom>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 Name ]</a:t>
            </a:r>
            <a:endParaRPr lang="en-US" sz="1300" dirty="0"/>
          </a:p>
        </p:txBody>
      </p:sp>
      <p:sp>
        <p:nvSpPr>
          <p:cNvPr id="17" name="Text 12"/>
          <p:cNvSpPr/>
          <p:nvPr/>
        </p:nvSpPr>
        <p:spPr>
          <a:xfrm>
            <a:off x="3474720" y="3611880"/>
            <a:ext cx="2240280" cy="274320"/>
          </a:xfrm>
          <a:prstGeom prst="rect">
            <a:avLst/>
          </a:prstGeom>
          <a:noFill/>
          <a:ln/>
        </p:spPr>
        <p:txBody>
          <a:bodyPr wrap="square" lIns="0" tIns="0" rIns="0" bIns="0" rtlCol="0" anchor="ctr"/>
          <a:lstStyle/>
          <a:p>
            <a:pPr marL="0" indent="0" algn="ctr">
              <a:buNone/>
            </a:pPr>
            <a:r>
              <a:rPr lang="en-US" sz="1100" i="1" dirty="0">
                <a:solidFill>
                  <a:srgbClr val="22D3EE"/>
                </a:solidFill>
                <a:latin typeface="Calibri" pitchFamily="34" charset="0"/>
                <a:ea typeface="Calibri" pitchFamily="34" charset="-122"/>
                <a:cs typeface="Calibri" pitchFamily="34" charset="-120"/>
              </a:rPr>
              <a:t>[ Branch / Year ]</a:t>
            </a:r>
            <a:endParaRPr lang="en-US" sz="1100" dirty="0"/>
          </a:p>
        </p:txBody>
      </p:sp>
      <p:sp>
        <p:nvSpPr>
          <p:cNvPr id="18" name="Text 13"/>
          <p:cNvSpPr/>
          <p:nvPr/>
        </p:nvSpPr>
        <p:spPr>
          <a:xfrm>
            <a:off x="3520440" y="3977640"/>
            <a:ext cx="2148840" cy="1051560"/>
          </a:xfrm>
          <a:prstGeom prst="rect">
            <a:avLst/>
          </a:prstGeom>
          <a:noFill/>
          <a:ln/>
        </p:spPr>
        <p:txBody>
          <a:bodyPr wrap="square" lIns="0" tIns="0" rIns="0" bIns="0" rtlCol="0" anchor="t"/>
          <a:lstStyle/>
          <a:p>
            <a:pPr marL="0" indent="0" algn="ctr">
              <a:lnSpc>
                <a:spcPct val="115000"/>
              </a:lnSpc>
              <a:buNone/>
            </a:pPr>
            <a:r>
              <a:rPr lang="en-US" sz="1050" i="1" dirty="0">
                <a:solidFill>
                  <a:srgbClr val="94A3B8"/>
                </a:solidFill>
                <a:latin typeface="Calibri" pitchFamily="34" charset="0"/>
                <a:ea typeface="Calibri" pitchFamily="34" charset="-122"/>
                <a:cs typeface="Calibri" pitchFamily="34" charset="-120"/>
              </a:rPr>
              <a:t>[ Role in this project — e.g. ML modeling, backend, UI, domain research ]</a:t>
            </a:r>
            <a:endParaRPr lang="en-US" sz="1050" dirty="0"/>
          </a:p>
        </p:txBody>
      </p:sp>
      <p:sp>
        <p:nvSpPr>
          <p:cNvPr id="19" name="Shape 14"/>
          <p:cNvSpPr/>
          <p:nvPr/>
        </p:nvSpPr>
        <p:spPr>
          <a:xfrm>
            <a:off x="603504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20" name="Shape 15"/>
          <p:cNvSpPr/>
          <p:nvPr/>
        </p:nvSpPr>
        <p:spPr>
          <a:xfrm>
            <a:off x="683514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21" name="Image 3" descr="icons/users_muted.png"/>
          <p:cNvPicPr>
            <a:picLocks noChangeAspect="1"/>
          </p:cNvPicPr>
          <p:nvPr/>
        </p:nvPicPr>
        <p:blipFill>
          <a:blip r:embed="rId4"/>
          <a:stretch>
            <a:fillRect/>
          </a:stretch>
        </p:blipFill>
        <p:spPr>
          <a:xfrm>
            <a:off x="7018020" y="2377440"/>
            <a:ext cx="548640" cy="548640"/>
          </a:xfrm>
          <a:prstGeom prst="rect">
            <a:avLst/>
          </a:prstGeom>
        </p:spPr>
      </p:pic>
      <p:sp>
        <p:nvSpPr>
          <p:cNvPr id="22" name="Text 16"/>
          <p:cNvSpPr/>
          <p:nvPr/>
        </p:nvSpPr>
        <p:spPr>
          <a:xfrm>
            <a:off x="6172200" y="3291840"/>
            <a:ext cx="2240280" cy="320040"/>
          </a:xfrm>
          <a:prstGeom prst="rect">
            <a:avLst/>
          </a:prstGeom>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 Name ]</a:t>
            </a:r>
            <a:endParaRPr lang="en-US" sz="1300" dirty="0"/>
          </a:p>
        </p:txBody>
      </p:sp>
      <p:sp>
        <p:nvSpPr>
          <p:cNvPr id="23" name="Text 17"/>
          <p:cNvSpPr/>
          <p:nvPr/>
        </p:nvSpPr>
        <p:spPr>
          <a:xfrm>
            <a:off x="6172200" y="3611880"/>
            <a:ext cx="2240280" cy="274320"/>
          </a:xfrm>
          <a:prstGeom prst="rect">
            <a:avLst/>
          </a:prstGeom>
          <a:noFill/>
          <a:ln/>
        </p:spPr>
        <p:txBody>
          <a:bodyPr wrap="square" lIns="0" tIns="0" rIns="0" bIns="0" rtlCol="0" anchor="ctr"/>
          <a:lstStyle/>
          <a:p>
            <a:pPr marL="0" indent="0" algn="ctr">
              <a:buNone/>
            </a:pPr>
            <a:r>
              <a:rPr lang="en-US" sz="1100" i="1" dirty="0">
                <a:solidFill>
                  <a:srgbClr val="22D3EE"/>
                </a:solidFill>
                <a:latin typeface="Calibri" pitchFamily="34" charset="0"/>
                <a:ea typeface="Calibri" pitchFamily="34" charset="-122"/>
                <a:cs typeface="Calibri" pitchFamily="34" charset="-120"/>
              </a:rPr>
              <a:t>[ Branch / Year ]</a:t>
            </a:r>
            <a:endParaRPr lang="en-US" sz="1100" dirty="0"/>
          </a:p>
        </p:txBody>
      </p:sp>
      <p:sp>
        <p:nvSpPr>
          <p:cNvPr id="24" name="Text 18"/>
          <p:cNvSpPr/>
          <p:nvPr/>
        </p:nvSpPr>
        <p:spPr>
          <a:xfrm>
            <a:off x="6217920" y="3977640"/>
            <a:ext cx="2148840" cy="1051560"/>
          </a:xfrm>
          <a:prstGeom prst="rect">
            <a:avLst/>
          </a:prstGeom>
          <a:noFill/>
          <a:ln/>
        </p:spPr>
        <p:txBody>
          <a:bodyPr wrap="square" lIns="0" tIns="0" rIns="0" bIns="0" rtlCol="0" anchor="t"/>
          <a:lstStyle/>
          <a:p>
            <a:pPr marL="0" indent="0" algn="ctr">
              <a:lnSpc>
                <a:spcPct val="115000"/>
              </a:lnSpc>
              <a:buNone/>
            </a:pPr>
            <a:r>
              <a:rPr lang="en-US" sz="1050" i="1" dirty="0">
                <a:solidFill>
                  <a:srgbClr val="94A3B8"/>
                </a:solidFill>
                <a:latin typeface="Calibri" pitchFamily="34" charset="0"/>
                <a:ea typeface="Calibri" pitchFamily="34" charset="-122"/>
                <a:cs typeface="Calibri" pitchFamily="34" charset="-120"/>
              </a:rPr>
              <a:t>[ Role in this project — e.g. ML modeling, backend, UI, domain research ]</a:t>
            </a:r>
            <a:endParaRPr lang="en-US" sz="1050" dirty="0"/>
          </a:p>
        </p:txBody>
      </p:sp>
      <p:sp>
        <p:nvSpPr>
          <p:cNvPr id="25" name="Shape 19"/>
          <p:cNvSpPr/>
          <p:nvPr/>
        </p:nvSpPr>
        <p:spPr>
          <a:xfrm>
            <a:off x="873252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26" name="Shape 20"/>
          <p:cNvSpPr/>
          <p:nvPr/>
        </p:nvSpPr>
        <p:spPr>
          <a:xfrm>
            <a:off x="953262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27" name="Image 4" descr="icons/users_muted.png"/>
          <p:cNvPicPr>
            <a:picLocks noChangeAspect="1"/>
          </p:cNvPicPr>
          <p:nvPr/>
        </p:nvPicPr>
        <p:blipFill>
          <a:blip r:embed="rId4"/>
          <a:stretch>
            <a:fillRect/>
          </a:stretch>
        </p:blipFill>
        <p:spPr>
          <a:xfrm>
            <a:off x="9715500" y="2377440"/>
            <a:ext cx="548640" cy="548640"/>
          </a:xfrm>
          <a:prstGeom prst="rect">
            <a:avLst/>
          </a:prstGeom>
        </p:spPr>
      </p:pic>
      <p:sp>
        <p:nvSpPr>
          <p:cNvPr id="28" name="Text 21"/>
          <p:cNvSpPr/>
          <p:nvPr/>
        </p:nvSpPr>
        <p:spPr>
          <a:xfrm>
            <a:off x="8869680" y="3291840"/>
            <a:ext cx="2240280" cy="320040"/>
          </a:xfrm>
          <a:prstGeom prst="rect">
            <a:avLst/>
          </a:prstGeom>
          <a:noFill/>
          <a:ln/>
        </p:spPr>
        <p:txBody>
          <a:bodyPr wrap="square" lIns="0" tIns="0" rIns="0" bIns="0" rtlCol="0" anchor="ctr"/>
          <a:lstStyle/>
          <a:p>
            <a:pPr marL="0" indent="0" algn="ctr">
              <a:buNone/>
            </a:pPr>
            <a:r>
              <a:rPr lang="en-US" sz="1300" b="1" i="1" dirty="0">
                <a:solidFill>
                  <a:srgbClr val="FFFFFF"/>
                </a:solidFill>
                <a:latin typeface="Calibri" pitchFamily="34" charset="0"/>
                <a:ea typeface="Calibri" pitchFamily="34" charset="-122"/>
                <a:cs typeface="Calibri" pitchFamily="34" charset="-120"/>
              </a:rPr>
              <a:t>[ Name ] (optional)</a:t>
            </a:r>
            <a:endParaRPr lang="en-US" sz="1300" dirty="0"/>
          </a:p>
        </p:txBody>
      </p:sp>
      <p:sp>
        <p:nvSpPr>
          <p:cNvPr id="29" name="Text 22"/>
          <p:cNvSpPr/>
          <p:nvPr/>
        </p:nvSpPr>
        <p:spPr>
          <a:xfrm>
            <a:off x="8869680" y="3611880"/>
            <a:ext cx="2240280" cy="274320"/>
          </a:xfrm>
          <a:prstGeom prst="rect">
            <a:avLst/>
          </a:prstGeom>
          <a:noFill/>
          <a:ln/>
        </p:spPr>
        <p:txBody>
          <a:bodyPr wrap="square" lIns="0" tIns="0" rIns="0" bIns="0" rtlCol="0" anchor="ctr"/>
          <a:lstStyle/>
          <a:p>
            <a:pPr marL="0" indent="0" algn="ctr">
              <a:buNone/>
            </a:pPr>
            <a:r>
              <a:rPr lang="en-US" sz="1100" i="1" dirty="0">
                <a:solidFill>
                  <a:srgbClr val="22D3EE"/>
                </a:solidFill>
                <a:latin typeface="Calibri" pitchFamily="34" charset="0"/>
                <a:ea typeface="Calibri" pitchFamily="34" charset="-122"/>
                <a:cs typeface="Calibri" pitchFamily="34" charset="-120"/>
              </a:rPr>
              <a:t>[ Branch / Year ]</a:t>
            </a:r>
            <a:endParaRPr lang="en-US" sz="1100" dirty="0"/>
          </a:p>
        </p:txBody>
      </p:sp>
      <p:sp>
        <p:nvSpPr>
          <p:cNvPr id="30" name="Text 23"/>
          <p:cNvSpPr/>
          <p:nvPr/>
        </p:nvSpPr>
        <p:spPr>
          <a:xfrm>
            <a:off x="8915400" y="3977640"/>
            <a:ext cx="2148840" cy="1051560"/>
          </a:xfrm>
          <a:prstGeom prst="rect">
            <a:avLst/>
          </a:prstGeom>
          <a:noFill/>
          <a:ln/>
        </p:spPr>
        <p:txBody>
          <a:bodyPr wrap="square" lIns="0" tIns="0" rIns="0" bIns="0" rtlCol="0" anchor="t"/>
          <a:lstStyle/>
          <a:p>
            <a:pPr marL="0" indent="0" algn="ctr">
              <a:lnSpc>
                <a:spcPct val="115000"/>
              </a:lnSpc>
              <a:buNone/>
            </a:pPr>
            <a:r>
              <a:rPr lang="en-US" sz="1050" i="1" dirty="0">
                <a:solidFill>
                  <a:srgbClr val="94A3B8"/>
                </a:solidFill>
                <a:latin typeface="Calibri" pitchFamily="34" charset="0"/>
                <a:ea typeface="Calibri" pitchFamily="34" charset="-122"/>
                <a:cs typeface="Calibri" pitchFamily="34" charset="-120"/>
              </a:rPr>
              <a:t>[ Role in this project — e.g. ML modeling, backend, UI, domain research ]</a:t>
            </a:r>
            <a:endParaRPr lang="en-US" sz="1050" dirty="0"/>
          </a:p>
        </p:txBody>
      </p:sp>
      <p:sp>
        <p:nvSpPr>
          <p:cNvPr id="31" name="Text 24"/>
          <p:cNvSpPr/>
          <p:nvPr/>
        </p:nvSpPr>
        <p:spPr>
          <a:xfrm>
            <a:off x="640080" y="5394960"/>
            <a:ext cx="1088136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Faculty Mentor: [ Name ]     Schneider Mentor: [ Assigned during mentoring phase ]</a:t>
            </a:r>
            <a:endParaRPr lang="en-US" sz="1200" dirty="0"/>
          </a:p>
        </p:txBody>
      </p:sp>
      <p:sp>
        <p:nvSpPr>
          <p:cNvPr id="32" name="Text 25"/>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33" name="Text 2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Roadmap &amp; Next Steps</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Where this goes beyond the hackathon</a:t>
            </a:r>
            <a:endParaRPr lang="en-US" sz="1350" dirty="0"/>
          </a:p>
        </p:txBody>
      </p:sp>
      <p:pic>
        <p:nvPicPr>
          <p:cNvPr id="6" name="Image 0" descr="icons/route_cyan.png"/>
          <p:cNvPicPr>
            <a:picLocks noChangeAspect="1"/>
          </p:cNvPicPr>
          <p:nvPr/>
        </p:nvPicPr>
        <p:blipFill>
          <a:blip r:embed="rId3"/>
          <a:stretch>
            <a:fillRect/>
          </a:stretch>
        </p:blipFill>
        <p:spPr>
          <a:xfrm>
            <a:off x="9784080" y="457200"/>
            <a:ext cx="1737360" cy="1737360"/>
          </a:xfrm>
          <a:prstGeom prst="rect">
            <a:avLst/>
          </a:prstGeom>
        </p:spPr>
      </p:pic>
      <p:sp>
        <p:nvSpPr>
          <p:cNvPr id="7" name="Shape 4"/>
          <p:cNvSpPr/>
          <p:nvPr/>
        </p:nvSpPr>
        <p:spPr>
          <a:xfrm>
            <a:off x="640080" y="1828800"/>
            <a:ext cx="10881360" cy="1143000"/>
          </a:xfrm>
          <a:prstGeom prst="roundRect">
            <a:avLst>
              <a:gd name="adj" fmla="val 7200"/>
            </a:avLst>
          </a:prstGeom>
          <a:solidFill>
            <a:srgbClr val="242A52"/>
          </a:solidFill>
          <a:ln/>
        </p:spPr>
        <p:txBody>
          <a:bodyPr/>
          <a:lstStyle/>
          <a:p>
            <a:endParaRPr lang="en-IN"/>
          </a:p>
        </p:txBody>
      </p:sp>
      <p:sp>
        <p:nvSpPr>
          <p:cNvPr id="8" name="Shape 5"/>
          <p:cNvSpPr/>
          <p:nvPr/>
        </p:nvSpPr>
        <p:spPr>
          <a:xfrm>
            <a:off x="868680" y="2084832"/>
            <a:ext cx="502920" cy="502920"/>
          </a:xfrm>
          <a:prstGeom prst="ellipse">
            <a:avLst/>
          </a:prstGeom>
          <a:solidFill>
            <a:srgbClr val="3B82F6">
              <a:alpha val="85000"/>
            </a:srgbClr>
          </a:solidFill>
          <a:ln/>
        </p:spPr>
        <p:txBody>
          <a:bodyPr/>
          <a:lstStyle/>
          <a:p>
            <a:endParaRPr lang="en-IN"/>
          </a:p>
        </p:txBody>
      </p:sp>
      <p:sp>
        <p:nvSpPr>
          <p:cNvPr id="9" name="Text 6"/>
          <p:cNvSpPr/>
          <p:nvPr/>
        </p:nvSpPr>
        <p:spPr>
          <a:xfrm>
            <a:off x="868680" y="20848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7"/>
          <p:cNvSpPr/>
          <p:nvPr/>
        </p:nvSpPr>
        <p:spPr>
          <a:xfrm>
            <a:off x="1600200" y="1965960"/>
            <a:ext cx="3108960" cy="82296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If Shortlisted</a:t>
            </a:r>
            <a:endParaRPr lang="en-US" sz="1450" dirty="0"/>
          </a:p>
        </p:txBody>
      </p:sp>
      <p:sp>
        <p:nvSpPr>
          <p:cNvPr id="11" name="Text 8"/>
          <p:cNvSpPr/>
          <p:nvPr/>
        </p:nvSpPr>
        <p:spPr>
          <a:xfrm>
            <a:off x="4846320" y="1965960"/>
            <a:ext cx="6492240" cy="822960"/>
          </a:xfrm>
          <a:prstGeom prst="rect">
            <a:avLst/>
          </a:prstGeom>
          <a:noFill/>
          <a:ln/>
        </p:spPr>
        <p:txBody>
          <a:bodyPr wrap="square" lIns="0" tIns="0" rIns="0" bIns="0" rtlCol="0" anchor="ctr"/>
          <a:lstStyle/>
          <a:p>
            <a:pPr marL="0" indent="0">
              <a:lnSpc>
                <a:spcPct val="115000"/>
              </a:lnSpc>
              <a:buNone/>
            </a:pPr>
            <a:r>
              <a:rPr lang="en-US" sz="1250" i="1" dirty="0">
                <a:solidFill>
                  <a:srgbClr val="C7D2FE"/>
                </a:solidFill>
                <a:latin typeface="Calibri" pitchFamily="34" charset="0"/>
                <a:ea typeface="Calibri" pitchFamily="34" charset="-122"/>
                <a:cs typeface="Calibri" pitchFamily="34" charset="-120"/>
              </a:rPr>
              <a:t>[ what you'll refine during the mentoring weeks before final pitch ]</a:t>
            </a:r>
            <a:endParaRPr lang="en-US" sz="1250" dirty="0"/>
          </a:p>
        </p:txBody>
      </p:sp>
      <p:sp>
        <p:nvSpPr>
          <p:cNvPr id="12" name="Shape 9"/>
          <p:cNvSpPr/>
          <p:nvPr/>
        </p:nvSpPr>
        <p:spPr>
          <a:xfrm>
            <a:off x="640080" y="3200400"/>
            <a:ext cx="10881360" cy="1143000"/>
          </a:xfrm>
          <a:prstGeom prst="roundRect">
            <a:avLst>
              <a:gd name="adj" fmla="val 7200"/>
            </a:avLst>
          </a:prstGeom>
          <a:solidFill>
            <a:srgbClr val="242A52"/>
          </a:solidFill>
          <a:ln/>
        </p:spPr>
        <p:txBody>
          <a:bodyPr/>
          <a:lstStyle/>
          <a:p>
            <a:endParaRPr lang="en-IN"/>
          </a:p>
        </p:txBody>
      </p:sp>
      <p:sp>
        <p:nvSpPr>
          <p:cNvPr id="13" name="Shape 10"/>
          <p:cNvSpPr/>
          <p:nvPr/>
        </p:nvSpPr>
        <p:spPr>
          <a:xfrm>
            <a:off x="868680" y="3456432"/>
            <a:ext cx="502920" cy="502920"/>
          </a:xfrm>
          <a:prstGeom prst="ellipse">
            <a:avLst/>
          </a:prstGeom>
          <a:solidFill>
            <a:srgbClr val="3B82F6">
              <a:alpha val="85000"/>
            </a:srgbClr>
          </a:solidFill>
          <a:ln/>
        </p:spPr>
        <p:txBody>
          <a:bodyPr/>
          <a:lstStyle/>
          <a:p>
            <a:endParaRPr lang="en-IN"/>
          </a:p>
        </p:txBody>
      </p:sp>
      <p:sp>
        <p:nvSpPr>
          <p:cNvPr id="14" name="Text 11"/>
          <p:cNvSpPr/>
          <p:nvPr/>
        </p:nvSpPr>
        <p:spPr>
          <a:xfrm>
            <a:off x="868680" y="34564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2"/>
          <p:cNvSpPr/>
          <p:nvPr/>
        </p:nvSpPr>
        <p:spPr>
          <a:xfrm>
            <a:off x="1600200" y="3337560"/>
            <a:ext cx="3108960" cy="82296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If Selected as Winner</a:t>
            </a:r>
            <a:endParaRPr lang="en-US" sz="1450" dirty="0"/>
          </a:p>
        </p:txBody>
      </p:sp>
      <p:sp>
        <p:nvSpPr>
          <p:cNvPr id="16" name="Text 13"/>
          <p:cNvSpPr/>
          <p:nvPr/>
        </p:nvSpPr>
        <p:spPr>
          <a:xfrm>
            <a:off x="4846320" y="3337560"/>
            <a:ext cx="6492240" cy="822960"/>
          </a:xfrm>
          <a:prstGeom prst="rect">
            <a:avLst/>
          </a:prstGeom>
          <a:noFill/>
          <a:ln/>
        </p:spPr>
        <p:txBody>
          <a:bodyPr wrap="square" lIns="0" tIns="0" rIns="0" bIns="0" rtlCol="0" anchor="ctr"/>
          <a:lstStyle/>
          <a:p>
            <a:pPr marL="0" indent="0">
              <a:lnSpc>
                <a:spcPct val="115000"/>
              </a:lnSpc>
              <a:buNone/>
            </a:pPr>
            <a:r>
              <a:rPr lang="en-US" sz="1250" i="1" dirty="0">
                <a:solidFill>
                  <a:srgbClr val="C7D2FE"/>
                </a:solidFill>
                <a:latin typeface="Calibri" pitchFamily="34" charset="0"/>
                <a:ea typeface="Calibri" pitchFamily="34" charset="-122"/>
                <a:cs typeface="Calibri" pitchFamily="34" charset="-120"/>
              </a:rPr>
              <a:t>[ how you'd use the Schneider internship to build this out further ]</a:t>
            </a:r>
            <a:endParaRPr lang="en-US" sz="1250" dirty="0"/>
          </a:p>
        </p:txBody>
      </p:sp>
      <p:sp>
        <p:nvSpPr>
          <p:cNvPr id="17" name="Shape 14"/>
          <p:cNvSpPr/>
          <p:nvPr/>
        </p:nvSpPr>
        <p:spPr>
          <a:xfrm>
            <a:off x="640080" y="4572000"/>
            <a:ext cx="10881360" cy="1143000"/>
          </a:xfrm>
          <a:prstGeom prst="roundRect">
            <a:avLst>
              <a:gd name="adj" fmla="val 7200"/>
            </a:avLst>
          </a:prstGeom>
          <a:solidFill>
            <a:srgbClr val="242A52"/>
          </a:solidFill>
          <a:ln/>
        </p:spPr>
        <p:txBody>
          <a:bodyPr/>
          <a:lstStyle/>
          <a:p>
            <a:endParaRPr lang="en-IN"/>
          </a:p>
        </p:txBody>
      </p:sp>
      <p:sp>
        <p:nvSpPr>
          <p:cNvPr id="18" name="Shape 15"/>
          <p:cNvSpPr/>
          <p:nvPr/>
        </p:nvSpPr>
        <p:spPr>
          <a:xfrm>
            <a:off x="868680" y="4828032"/>
            <a:ext cx="502920" cy="502920"/>
          </a:xfrm>
          <a:prstGeom prst="ellipse">
            <a:avLst/>
          </a:prstGeom>
          <a:solidFill>
            <a:srgbClr val="3B82F6">
              <a:alpha val="85000"/>
            </a:srgbClr>
          </a:solidFill>
          <a:ln/>
        </p:spPr>
        <p:txBody>
          <a:bodyPr/>
          <a:lstStyle/>
          <a:p>
            <a:endParaRPr lang="en-IN"/>
          </a:p>
        </p:txBody>
      </p:sp>
      <p:sp>
        <p:nvSpPr>
          <p:cNvPr id="19" name="Text 16"/>
          <p:cNvSpPr/>
          <p:nvPr/>
        </p:nvSpPr>
        <p:spPr>
          <a:xfrm>
            <a:off x="868680" y="48280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7"/>
          <p:cNvSpPr/>
          <p:nvPr/>
        </p:nvSpPr>
        <p:spPr>
          <a:xfrm>
            <a:off x="1600200" y="4709160"/>
            <a:ext cx="3108960" cy="82296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Long-Term Vision</a:t>
            </a:r>
            <a:endParaRPr lang="en-US" sz="1450" dirty="0"/>
          </a:p>
        </p:txBody>
      </p:sp>
      <p:sp>
        <p:nvSpPr>
          <p:cNvPr id="21" name="Text 18"/>
          <p:cNvSpPr/>
          <p:nvPr/>
        </p:nvSpPr>
        <p:spPr>
          <a:xfrm>
            <a:off x="4846320" y="4709160"/>
            <a:ext cx="6492240" cy="822960"/>
          </a:xfrm>
          <a:prstGeom prst="rect">
            <a:avLst/>
          </a:prstGeom>
          <a:noFill/>
          <a:ln/>
        </p:spPr>
        <p:txBody>
          <a:bodyPr wrap="square" lIns="0" tIns="0" rIns="0" bIns="0" rtlCol="0" anchor="ctr"/>
          <a:lstStyle/>
          <a:p>
            <a:pPr marL="0" indent="0">
              <a:lnSpc>
                <a:spcPct val="115000"/>
              </a:lnSpc>
              <a:buNone/>
            </a:pPr>
            <a:r>
              <a:rPr lang="en-US" sz="1250" i="1" dirty="0">
                <a:solidFill>
                  <a:srgbClr val="C7D2FE"/>
                </a:solidFill>
                <a:latin typeface="Calibri" pitchFamily="34" charset="0"/>
                <a:ea typeface="Calibri" pitchFamily="34" charset="-122"/>
                <a:cs typeface="Calibri" pitchFamily="34" charset="-120"/>
              </a:rPr>
              <a:t>[ how this could scale across data centers / switchgear fleets ]</a:t>
            </a:r>
            <a:endParaRPr lang="en-US" sz="1250" dirty="0"/>
          </a:p>
        </p:txBody>
      </p:sp>
      <p:sp>
        <p:nvSpPr>
          <p:cNvPr id="22" name="Text 19"/>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23" name="Text 20"/>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pic>
        <p:nvPicPr>
          <p:cNvPr id="4" name="Image 0" descr="icons/handshake_cyan.png"/>
          <p:cNvPicPr>
            <a:picLocks noChangeAspect="1"/>
          </p:cNvPicPr>
          <p:nvPr/>
        </p:nvPicPr>
        <p:blipFill>
          <a:blip r:embed="rId3"/>
          <a:stretch>
            <a:fillRect/>
          </a:stretch>
        </p:blipFill>
        <p:spPr>
          <a:xfrm>
            <a:off x="5349240" y="1371600"/>
            <a:ext cx="1463040" cy="1463040"/>
          </a:xfrm>
          <a:prstGeom prst="rect">
            <a:avLst/>
          </a:prstGeom>
        </p:spPr>
      </p:pic>
      <p:sp>
        <p:nvSpPr>
          <p:cNvPr id="5" name="Text 2"/>
          <p:cNvSpPr/>
          <p:nvPr/>
        </p:nvSpPr>
        <p:spPr>
          <a:xfrm>
            <a:off x="640080" y="3017520"/>
            <a:ext cx="1088136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p:nvPr/>
        </p:nvSpPr>
        <p:spPr>
          <a:xfrm>
            <a:off x="640080" y="3794760"/>
            <a:ext cx="10881360" cy="457200"/>
          </a:xfrm>
          <a:prstGeom prst="rect">
            <a:avLst/>
          </a:prstGeom>
          <a:noFill/>
          <a:ln/>
        </p:spPr>
        <p:txBody>
          <a:bodyPr wrap="square" lIns="0" tIns="0" rIns="0" bIns="0" rtlCol="0" anchor="ctr"/>
          <a:lstStyle/>
          <a:p>
            <a:pPr marL="0" indent="0" algn="ctr">
              <a:buNone/>
            </a:pPr>
            <a:r>
              <a:rPr lang="en-US" sz="1600" i="1" dirty="0">
                <a:solidFill>
                  <a:srgbClr val="22D3EE"/>
                </a:solidFill>
                <a:latin typeface="Calibri" pitchFamily="34" charset="0"/>
                <a:ea typeface="Calibri" pitchFamily="34" charset="-122"/>
                <a:cs typeface="Calibri" pitchFamily="34" charset="-120"/>
              </a:rPr>
              <a:t>[ Team Name ]  ·  Questions Welcome</a:t>
            </a:r>
            <a:endParaRPr lang="en-US" sz="1600" dirty="0"/>
          </a:p>
        </p:txBody>
      </p:sp>
      <p:sp>
        <p:nvSpPr>
          <p:cNvPr id="7" name="Text 4"/>
          <p:cNvSpPr/>
          <p:nvPr/>
        </p:nvSpPr>
        <p:spPr>
          <a:xfrm>
            <a:off x="640080" y="4343400"/>
            <a:ext cx="10881360" cy="365760"/>
          </a:xfrm>
          <a:prstGeom prst="rect">
            <a:avLst/>
          </a:prstGeom>
          <a:noFill/>
          <a:ln/>
        </p:spPr>
        <p:txBody>
          <a:bodyPr wrap="square" lIns="0" tIns="0" rIns="0" bIns="0" rtlCol="0" anchor="ctr"/>
          <a:lstStyle/>
          <a:p>
            <a:pPr marL="0" indent="0" algn="ctr">
              <a:buNone/>
            </a:pPr>
            <a:r>
              <a:rPr lang="en-US" sz="1250" i="1" dirty="0">
                <a:solidFill>
                  <a:srgbClr val="94A3B8"/>
                </a:solidFill>
                <a:latin typeface="Calibri" pitchFamily="34" charset="0"/>
                <a:ea typeface="Calibri" pitchFamily="34" charset="-122"/>
                <a:cs typeface="Calibri" pitchFamily="34" charset="-120"/>
              </a:rPr>
              <a:t>[ Team leader contact email — for follow-up from mentors and jury ]</a:t>
            </a:r>
            <a:endParaRPr lang="en-US" sz="1250" dirty="0"/>
          </a:p>
        </p:txBody>
      </p:sp>
      <p:sp>
        <p:nvSpPr>
          <p:cNvPr id="8" name="Text 5"/>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9" name="Text 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7443d00-af18-408c-9335-47b5de3ec9b9}"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otalTime>15</TotalTime>
  <Words>771</Words>
  <Application>Microsoft Office PowerPoint</Application>
  <PresentationFormat>Widescreen</PresentationFormat>
  <Paragraphs>87</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PredictX - Team Pitch Deck Template</dc:title>
  <dc:subject>PptxGenJS Presentation</dc:subject>
  <dc:creator>PredictX Hackathon</dc:creator>
  <cp:lastModifiedBy>Soumya Gopinathan</cp:lastModifiedBy>
  <cp:revision>2</cp:revision>
  <dcterms:created xsi:type="dcterms:W3CDTF">2026-07-09T14:45:15Z</dcterms:created>
  <dcterms:modified xsi:type="dcterms:W3CDTF">2026-08-20T09:31:37Z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General</vt:lpwstr>
  </property>
</Properties>
</file>