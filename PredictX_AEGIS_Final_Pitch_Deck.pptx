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Metadata/LabelInfo.xml" ContentType="application/vnd.ms-office.classificationlabel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ngesInfos/changesInfo1.xml" ContentType="application/vnd.ms-powerpoint.changesinfo+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 Id="rId6"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9"/>
  </p:notesMasterIdLst>
  <p:sldIdLst>
    <p:sldId id="256" r:id="rId2"/>
    <p:sldId id="257" r:id="rId3"/>
    <p:sldId id="260" r:id="rId4"/>
    <p:sldId id="262" r:id="rId5"/>
    <p:sldId id="267" r:id="rId16"/>
    <p:sldId id="264" r:id="rId6"/>
    <p:sldId id="265" r:id="rId7"/>
    <p:sldId id="266" r:id="rId8"/>
    <p:sldId id="268" r:id="rId17"/>
    <p:sldId id="269" r:id="rId18"/>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027C0D8-40AA-482F-B37C-BA85DAF3C16F}" v="5" dt="2026-08-20T09:31:13.81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p:scale>
          <a:sx n="75" d="100"/>
          <a:sy n="75" d="100"/>
        </p:scale>
        <p:origin x="1836" y="72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 Id="rId14" Type="http://schemas.microsoft.com/office/2016/11/relationships/changesInfo" Target="changesInfos/changesInfo1.xml"/><Relationship Id="rId15" Type="http://schemas.microsoft.com/office/2015/10/relationships/revisionInfo" Target="revisionInfo.xml"/><Relationship Id="rId16" Type="http://schemas.openxmlformats.org/officeDocument/2006/relationships/slide" Target="slides/slide8.xml"/><Relationship Id="rId17" Type="http://schemas.openxmlformats.org/officeDocument/2006/relationships/slide" Target="slides/slide9.xml"/><Relationship Id="rId18" Type="http://schemas.openxmlformats.org/officeDocument/2006/relationships/slide" Target="slides/slide10.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oumya Gopinathan" userId="a5c7e265-9cf8-4b6a-a9cf-41b712f9020e" providerId="ADAL" clId="{B0FF57B2-E5AF-48EC-A02C-9F9B2C489F7F}"/>
    <pc:docChg chg="custSel delSld modSld sldOrd">
      <pc:chgData name="Soumya Gopinathan" userId="a5c7e265-9cf8-4b6a-a9cf-41b712f9020e" providerId="ADAL" clId="{B0FF57B2-E5AF-48EC-A02C-9F9B2C489F7F}" dt="2026-08-20T09:31:29.216" v="66" actId="47"/>
      <pc:docMkLst>
        <pc:docMk/>
      </pc:docMkLst>
      <pc:sldChg chg="addSp delSp modSp mod">
        <pc:chgData name="Soumya Gopinathan" userId="a5c7e265-9cf8-4b6a-a9cf-41b712f9020e" providerId="ADAL" clId="{B0FF57B2-E5AF-48EC-A02C-9F9B2C489F7F}" dt="2026-08-20T09:31:25.300" v="65" actId="478"/>
        <pc:sldMkLst>
          <pc:docMk/>
          <pc:sldMk cId="0" sldId="257"/>
        </pc:sldMkLst>
        <pc:spChg chg="del">
          <ac:chgData name="Soumya Gopinathan" userId="a5c7e265-9cf8-4b6a-a9cf-41b712f9020e" providerId="ADAL" clId="{B0FF57B2-E5AF-48EC-A02C-9F9B2C489F7F}" dt="2026-08-20T09:27:43.924" v="0" actId="478"/>
          <ac:spMkLst>
            <pc:docMk/>
            <pc:sldMk cId="0" sldId="257"/>
            <ac:spMk id="11" creationId="{00000000-0000-0000-0000-000000000000}"/>
          </ac:spMkLst>
        </pc:spChg>
        <pc:spChg chg="del">
          <ac:chgData name="Soumya Gopinathan" userId="a5c7e265-9cf8-4b6a-a9cf-41b712f9020e" providerId="ADAL" clId="{B0FF57B2-E5AF-48EC-A02C-9F9B2C489F7F}" dt="2026-08-20T09:27:43.924" v="0" actId="478"/>
          <ac:spMkLst>
            <pc:docMk/>
            <pc:sldMk cId="0" sldId="257"/>
            <ac:spMk id="13" creationId="{00000000-0000-0000-0000-000000000000}"/>
          </ac:spMkLst>
        </pc:spChg>
        <pc:spChg chg="del">
          <ac:chgData name="Soumya Gopinathan" userId="a5c7e265-9cf8-4b6a-a9cf-41b712f9020e" providerId="ADAL" clId="{B0FF57B2-E5AF-48EC-A02C-9F9B2C489F7F}" dt="2026-08-20T09:27:43.924" v="0" actId="478"/>
          <ac:spMkLst>
            <pc:docMk/>
            <pc:sldMk cId="0" sldId="257"/>
            <ac:spMk id="15" creationId="{00000000-0000-0000-0000-000000000000}"/>
          </ac:spMkLst>
        </pc:spChg>
        <pc:spChg chg="del">
          <ac:chgData name="Soumya Gopinathan" userId="a5c7e265-9cf8-4b6a-a9cf-41b712f9020e" providerId="ADAL" clId="{B0FF57B2-E5AF-48EC-A02C-9F9B2C489F7F}" dt="2026-08-20T09:27:43.924" v="0" actId="478"/>
          <ac:spMkLst>
            <pc:docMk/>
            <pc:sldMk cId="0" sldId="257"/>
            <ac:spMk id="17" creationId="{00000000-0000-0000-0000-000000000000}"/>
          </ac:spMkLst>
        </pc:spChg>
        <pc:spChg chg="add del mod">
          <ac:chgData name="Soumya Gopinathan" userId="a5c7e265-9cf8-4b6a-a9cf-41b712f9020e" providerId="ADAL" clId="{B0FF57B2-E5AF-48EC-A02C-9F9B2C489F7F}" dt="2026-08-20T09:28:55.619" v="12" actId="478"/>
          <ac:spMkLst>
            <pc:docMk/>
            <pc:sldMk cId="0" sldId="257"/>
            <ac:spMk id="20" creationId="{4FDD8349-71FA-2052-E7E6-FC334C5FB5A3}"/>
          </ac:spMkLst>
        </pc:spChg>
        <pc:spChg chg="add del mod">
          <ac:chgData name="Soumya Gopinathan" userId="a5c7e265-9cf8-4b6a-a9cf-41b712f9020e" providerId="ADAL" clId="{B0FF57B2-E5AF-48EC-A02C-9F9B2C489F7F}" dt="2026-08-20T09:28:53.842" v="11" actId="478"/>
          <ac:spMkLst>
            <pc:docMk/>
            <pc:sldMk cId="0" sldId="257"/>
            <ac:spMk id="21" creationId="{B2FE1B77-B0B2-07CC-5AA3-FB5D270673E7}"/>
          </ac:spMkLst>
        </pc:spChg>
        <pc:spChg chg="add mod">
          <ac:chgData name="Soumya Gopinathan" userId="a5c7e265-9cf8-4b6a-a9cf-41b712f9020e" providerId="ADAL" clId="{B0FF57B2-E5AF-48EC-A02C-9F9B2C489F7F}" dt="2026-08-20T09:31:00.285" v="57" actId="14100"/>
          <ac:spMkLst>
            <pc:docMk/>
            <pc:sldMk cId="0" sldId="257"/>
            <ac:spMk id="22" creationId="{1D2278B0-1A9E-D333-EAF6-9B1E1C6D44D6}"/>
          </ac:spMkLst>
        </pc:spChg>
        <pc:spChg chg="add mod">
          <ac:chgData name="Soumya Gopinathan" userId="a5c7e265-9cf8-4b6a-a9cf-41b712f9020e" providerId="ADAL" clId="{B0FF57B2-E5AF-48EC-A02C-9F9B2C489F7F}" dt="2026-08-20T09:31:02.674" v="58" actId="14100"/>
          <ac:spMkLst>
            <pc:docMk/>
            <pc:sldMk cId="0" sldId="257"/>
            <ac:spMk id="23" creationId="{F702F55C-C5BB-143B-28A7-765BBA5CF38B}"/>
          </ac:spMkLst>
        </pc:spChg>
        <pc:spChg chg="add mod">
          <ac:chgData name="Soumya Gopinathan" userId="a5c7e265-9cf8-4b6a-a9cf-41b712f9020e" providerId="ADAL" clId="{B0FF57B2-E5AF-48EC-A02C-9F9B2C489F7F}" dt="2026-08-20T09:30:58.588" v="56" actId="14100"/>
          <ac:spMkLst>
            <pc:docMk/>
            <pc:sldMk cId="0" sldId="257"/>
            <ac:spMk id="24" creationId="{3D877865-455F-0821-DF26-7DDB7DF9C3A3}"/>
          </ac:spMkLst>
        </pc:spChg>
        <pc:spChg chg="add mod">
          <ac:chgData name="Soumya Gopinathan" userId="a5c7e265-9cf8-4b6a-a9cf-41b712f9020e" providerId="ADAL" clId="{B0FF57B2-E5AF-48EC-A02C-9F9B2C489F7F}" dt="2026-08-20T09:31:06.553" v="60" actId="14100"/>
          <ac:spMkLst>
            <pc:docMk/>
            <pc:sldMk cId="0" sldId="257"/>
            <ac:spMk id="25" creationId="{31645C2D-07B7-A3BB-18C9-ED97BE37A7DD}"/>
          </ac:spMkLst>
        </pc:spChg>
        <pc:spChg chg="add mod">
          <ac:chgData name="Soumya Gopinathan" userId="a5c7e265-9cf8-4b6a-a9cf-41b712f9020e" providerId="ADAL" clId="{B0FF57B2-E5AF-48EC-A02C-9F9B2C489F7F}" dt="2026-08-20T09:30:50.946" v="54" actId="14100"/>
          <ac:spMkLst>
            <pc:docMk/>
            <pc:sldMk cId="0" sldId="257"/>
            <ac:spMk id="26" creationId="{B233D944-B35E-C769-C3E2-552766FEA38C}"/>
          </ac:spMkLst>
        </pc:spChg>
        <pc:spChg chg="add mod">
          <ac:chgData name="Soumya Gopinathan" userId="a5c7e265-9cf8-4b6a-a9cf-41b712f9020e" providerId="ADAL" clId="{B0FF57B2-E5AF-48EC-A02C-9F9B2C489F7F}" dt="2026-08-20T09:31:21.581" v="63" actId="14100"/>
          <ac:spMkLst>
            <pc:docMk/>
            <pc:sldMk cId="0" sldId="257"/>
            <ac:spMk id="28" creationId="{6A12354D-A857-3690-0C92-9FFB9E21481C}"/>
          </ac:spMkLst>
        </pc:spChg>
        <pc:spChg chg="add mod">
          <ac:chgData name="Soumya Gopinathan" userId="a5c7e265-9cf8-4b6a-a9cf-41b712f9020e" providerId="ADAL" clId="{B0FF57B2-E5AF-48EC-A02C-9F9B2C489F7F}" dt="2026-08-20T09:31:23.756" v="64" actId="14100"/>
          <ac:spMkLst>
            <pc:docMk/>
            <pc:sldMk cId="0" sldId="257"/>
            <ac:spMk id="29" creationId="{F86FEDF1-0A46-DBFA-FA2F-152CE6D8FE4E}"/>
          </ac:spMkLst>
        </pc:spChg>
        <pc:picChg chg="del">
          <ac:chgData name="Soumya Gopinathan" userId="a5c7e265-9cf8-4b6a-a9cf-41b712f9020e" providerId="ADAL" clId="{B0FF57B2-E5AF-48EC-A02C-9F9B2C489F7F}" dt="2026-08-20T09:31:25.300" v="65" actId="478"/>
          <ac:picMkLst>
            <pc:docMk/>
            <pc:sldMk cId="0" sldId="257"/>
            <ac:picMk id="6" creationId="{00000000-0000-0000-0000-000000000000}"/>
          </ac:picMkLst>
        </pc:picChg>
        <pc:picChg chg="add mod">
          <ac:chgData name="Soumya Gopinathan" userId="a5c7e265-9cf8-4b6a-a9cf-41b712f9020e" providerId="ADAL" clId="{B0FF57B2-E5AF-48EC-A02C-9F9B2C489F7F}" dt="2026-08-20T09:31:17.689" v="62" actId="1076"/>
          <ac:picMkLst>
            <pc:docMk/>
            <pc:sldMk cId="0" sldId="257"/>
            <ac:picMk id="27" creationId="{D8AD460F-E59C-3114-90F8-542E8D894683}"/>
          </ac:picMkLst>
        </pc:picChg>
      </pc:sldChg>
      <pc:sldChg chg="addSp modSp del mod">
        <pc:chgData name="Soumya Gopinathan" userId="a5c7e265-9cf8-4b6a-a9cf-41b712f9020e" providerId="ADAL" clId="{B0FF57B2-E5AF-48EC-A02C-9F9B2C489F7F}" dt="2026-08-20T09:29:18.330" v="19" actId="47"/>
        <pc:sldMkLst>
          <pc:docMk/>
          <pc:sldMk cId="0" sldId="258"/>
        </pc:sldMkLst>
        <pc:spChg chg="mod">
          <ac:chgData name="Soumya Gopinathan" userId="a5c7e265-9cf8-4b6a-a9cf-41b712f9020e" providerId="ADAL" clId="{B0FF57B2-E5AF-48EC-A02C-9F9B2C489F7F}" dt="2026-08-20T09:28:09.743" v="4" actId="14100"/>
          <ac:spMkLst>
            <pc:docMk/>
            <pc:sldMk cId="0" sldId="258"/>
            <ac:spMk id="10" creationId="{00000000-0000-0000-0000-000000000000}"/>
          </ac:spMkLst>
        </pc:spChg>
        <pc:spChg chg="mod">
          <ac:chgData name="Soumya Gopinathan" userId="a5c7e265-9cf8-4b6a-a9cf-41b712f9020e" providerId="ADAL" clId="{B0FF57B2-E5AF-48EC-A02C-9F9B2C489F7F}" dt="2026-08-20T09:28:09.743" v="4" actId="14100"/>
          <ac:spMkLst>
            <pc:docMk/>
            <pc:sldMk cId="0" sldId="258"/>
            <ac:spMk id="11" creationId="{00000000-0000-0000-0000-000000000000}"/>
          </ac:spMkLst>
        </pc:spChg>
        <pc:spChg chg="add mod">
          <ac:chgData name="Soumya Gopinathan" userId="a5c7e265-9cf8-4b6a-a9cf-41b712f9020e" providerId="ADAL" clId="{B0FF57B2-E5AF-48EC-A02C-9F9B2C489F7F}" dt="2026-08-20T09:28:18.578" v="7" actId="14100"/>
          <ac:spMkLst>
            <pc:docMk/>
            <pc:sldMk cId="0" sldId="258"/>
            <ac:spMk id="17" creationId="{75127109-3C2F-ABD0-5833-77CCD28E748D}"/>
          </ac:spMkLst>
        </pc:spChg>
        <pc:spChg chg="add mod">
          <ac:chgData name="Soumya Gopinathan" userId="a5c7e265-9cf8-4b6a-a9cf-41b712f9020e" providerId="ADAL" clId="{B0FF57B2-E5AF-48EC-A02C-9F9B2C489F7F}" dt="2026-08-20T09:28:25.793" v="10" actId="14100"/>
          <ac:spMkLst>
            <pc:docMk/>
            <pc:sldMk cId="0" sldId="258"/>
            <ac:spMk id="18" creationId="{6AEB6826-0227-B273-5533-DE47B0DB3063}"/>
          </ac:spMkLst>
        </pc:spChg>
      </pc:sldChg>
      <pc:sldChg chg="del">
        <pc:chgData name="Soumya Gopinathan" userId="a5c7e265-9cf8-4b6a-a9cf-41b712f9020e" providerId="ADAL" clId="{B0FF57B2-E5AF-48EC-A02C-9F9B2C489F7F}" dt="2026-08-20T09:29:19.408" v="20" actId="47"/>
        <pc:sldMkLst>
          <pc:docMk/>
          <pc:sldMk cId="0" sldId="259"/>
        </pc:sldMkLst>
      </pc:sldChg>
      <pc:sldChg chg="del">
        <pc:chgData name="Soumya Gopinathan" userId="a5c7e265-9cf8-4b6a-a9cf-41b712f9020e" providerId="ADAL" clId="{B0FF57B2-E5AF-48EC-A02C-9F9B2C489F7F}" dt="2026-08-20T09:29:41.583" v="21" actId="47"/>
        <pc:sldMkLst>
          <pc:docMk/>
          <pc:sldMk cId="0" sldId="261"/>
        </pc:sldMkLst>
      </pc:sldChg>
      <pc:sldChg chg="modSp del mod ord">
        <pc:chgData name="Soumya Gopinathan" userId="a5c7e265-9cf8-4b6a-a9cf-41b712f9020e" providerId="ADAL" clId="{B0FF57B2-E5AF-48EC-A02C-9F9B2C489F7F}" dt="2026-08-20T09:31:29.216" v="66" actId="47"/>
        <pc:sldMkLst>
          <pc:docMk/>
          <pc:sldMk cId="0" sldId="263"/>
        </pc:sldMkLst>
        <pc:spChg chg="mod">
          <ac:chgData name="Soumya Gopinathan" userId="a5c7e265-9cf8-4b6a-a9cf-41b712f9020e" providerId="ADAL" clId="{B0FF57B2-E5AF-48EC-A02C-9F9B2C489F7F}" dt="2026-08-20T09:30:11.162" v="43" actId="20577"/>
          <ac:spMkLst>
            <pc:docMk/>
            <pc:sldMk cId="0" sldId="263"/>
            <ac:spMk id="4"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10263342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TO USE THIS TEMPLATE: Replace every dashed placeholder box with your own content. Keep the slide count and order intact so all teams are judged consistently. Delete this notes section before presenting. Suggested total length: 10-12 minutes, 11 slides.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28CA943-276D-BEDC-1D64-182257D436C9}"/>
              </a:ext>
            </a:extLst>
          </p:cNvPr>
          <p:cNvSpPr txBox="1"/>
          <p:nvPr userDrawn="1">
            <p:extLst>
              <p:ext uri="{1162E1C5-73C7-4A58-AE30-91384D911F3F}">
                <p184:classification xmlns:p184="http://schemas.microsoft.com/office/powerpoint/2018/4/main" val="ftr"/>
              </p:ext>
            </p:extLst>
          </p:nvPr>
        </p:nvSpPr>
        <p:spPr>
          <a:xfrm>
            <a:off x="5965825" y="6703060"/>
            <a:ext cx="276225" cy="91440"/>
          </a:xfrm>
          <a:prstGeom prst="rect">
            <a:avLst/>
          </a:prstGeom>
        </p:spPr>
        <p:txBody>
          <a:bodyPr horzOverflow="overflow" lIns="0" tIns="0" rIns="0" bIns="0">
            <a:spAutoFit/>
          </a:bodyPr>
          <a:lstStyle/>
          <a:p>
            <a:pPr algn="l"/>
            <a:r>
              <a:rPr lang="en-IN" sz="600">
                <a:solidFill>
                  <a:srgbClr val="626469">
                    <a:alpha val="50000"/>
                  </a:srgbClr>
                </a:solidFill>
                <a:latin typeface="Aptos" panose="020B0004020202020204" pitchFamily="34" charset="0"/>
              </a:rPr>
              <a:t>General</a:t>
            </a:r>
          </a:p>
        </p:txBody>
      </p:sp>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image" Target="../media/image10.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3.png"/><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2.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1F3B"/>
        </a:solidFill>
        <a:effectLst/>
      </p:bgPr>
    </p:bg>
    <p:spTree>
      <p:nvGrpSpPr>
        <p:cNvPr id="1" name=""/>
        <p:cNvGrpSpPr/>
        <p:nvPr/>
      </p:nvGrpSpPr>
      <p:grpSpPr>
        <a:xfrm>
          <a:off x="0" y="0"/>
          <a:ext cx="0" cy="0"/>
          <a:chOff x="0" y="0"/>
          <a:chExt cx="0" cy="0"/>
        </a:xfrm>
      </p:grpSpPr>
      <p:sp>
        <p:nvSpPr>
          <p:cNvPr id="30" name="Shape 10">
            <a:extLst>
              <a:ext uri="{FF2B5EF4-FFF2-40B4-BE49-F238E27FC236}">
                <a16:creationId xmlns:a16="http://schemas.microsoft.com/office/drawing/2014/main" id="{2B1E9CC0-7471-C13C-8D78-2401C39E1E2F}"/>
              </a:ext>
            </a:extLst>
          </p:cNvPr>
          <p:cNvSpPr/>
          <p:nvPr/>
        </p:nvSpPr>
        <p:spPr>
          <a:xfrm>
            <a:off x="4800600" y="4055002"/>
            <a:ext cx="3794760" cy="384048"/>
          </a:xfrm>
          <a:prstGeom prst="roundRect">
            <a:avLst>
              <a:gd name="adj" fmla="val 19048"/>
            </a:avLst>
          </a:prstGeom>
          <a:solidFill>
            <a:srgbClr val="242A52"/>
          </a:solidFill>
          <a:ln w="12700">
            <a:solidFill>
              <a:srgbClr val="3B82F6"/>
            </a:solidFill>
            <a:prstDash val="solid"/>
          </a:ln>
        </p:spPr>
        <p:txBody>
          <a:bodyPr/>
          <a:lstStyle/>
          <a:p>
            <a:endParaRPr lang="en-IN"/>
          </a:p>
        </p:txBody>
      </p:sp>
      <p:sp>
        <p:nvSpPr>
          <p:cNvPr id="2" name="Shape 0"/>
          <p:cNvSpPr/>
          <p:nvPr/>
        </p:nvSpPr>
        <p:spPr>
          <a:xfrm>
            <a:off x="10241280" y="-1645920"/>
            <a:ext cx="4114800" cy="4114800"/>
          </a:xfrm>
          <a:prstGeom prst="ellipse">
            <a:avLst/>
          </a:prstGeom>
          <a:solidFill>
            <a:srgbClr val="3B82F6">
              <a:alpha val="12000"/>
            </a:srgbClr>
          </a:solidFill>
          <a:ln/>
        </p:spPr>
        <p:txBody>
          <a:bodyPr/>
          <a:lstStyle/>
          <a:p>
            <a:endParaRPr lang="en-IN"/>
          </a:p>
        </p:txBody>
      </p:sp>
      <p:sp>
        <p:nvSpPr>
          <p:cNvPr id="3" name="Shape 1"/>
          <p:cNvSpPr/>
          <p:nvPr/>
        </p:nvSpPr>
        <p:spPr>
          <a:xfrm>
            <a:off x="-1463040" y="4846320"/>
            <a:ext cx="3657600" cy="3657600"/>
          </a:xfrm>
          <a:prstGeom prst="ellipse">
            <a:avLst/>
          </a:prstGeom>
          <a:solidFill>
            <a:srgbClr val="22D3EE">
              <a:alpha val="10000"/>
            </a:srgbClr>
          </a:solidFill>
          <a:ln/>
        </p:spPr>
        <p:txBody>
          <a:bodyPr/>
          <a:lstStyle/>
          <a:p>
            <a:endParaRPr lang="en-IN"/>
          </a:p>
        </p:txBody>
      </p:sp>
      <p:pic>
        <p:nvPicPr>
          <p:cNvPr id="4" name="Image 0" descr="icons/bolt_cyan.png"/>
          <p:cNvPicPr>
            <a:picLocks noChangeAspect="1"/>
          </p:cNvPicPr>
          <p:nvPr/>
        </p:nvPicPr>
        <p:blipFill>
          <a:blip r:embed="rId3"/>
          <a:stretch>
            <a:fillRect/>
          </a:stretch>
        </p:blipFill>
        <p:spPr>
          <a:xfrm>
            <a:off x="777240" y="685800"/>
            <a:ext cx="502920" cy="502920"/>
          </a:xfrm>
          <a:prstGeom prst="rect">
            <a:avLst/>
          </a:prstGeom>
        </p:spPr>
      </p:pic>
      <p:sp>
        <p:nvSpPr>
          <p:cNvPr id="5" name="Text 2"/>
          <p:cNvSpPr/>
          <p:nvPr/>
        </p:nvSpPr>
        <p:spPr>
          <a:xfrm>
            <a:off x="777240" y="1298448"/>
            <a:ext cx="8229600" cy="365760"/>
          </a:xfrm>
          <a:prstGeom prst="rect">
            <a:avLst/>
          </a:prstGeom>
          <a:noFill/>
          <a:ln/>
        </p:spPr>
        <p:txBody>
          <a:bodyPr wrap="square" lIns="0" tIns="0" rIns="0" bIns="0" rtlCol="0" anchor="ctr"/>
          <a:lstStyle/>
          <a:p>
            <a:pPr marL="0" indent="0">
              <a:buNone/>
            </a:pPr>
            <a:r>
              <a:rPr lang="en-US" sz="1300" b="1" kern="0" spc="200" dirty="0">
                <a:solidFill>
                  <a:srgbClr val="22D3EE"/>
                </a:solidFill>
                <a:latin typeface="Calibri" pitchFamily="34" charset="0"/>
                <a:ea typeface="Calibri" pitchFamily="34" charset="-122"/>
                <a:cs typeface="Calibri" pitchFamily="34" charset="-120"/>
              </a:rPr>
              <a:t>PredictX  ·  TEAM PITCH DECK TEMPLATE</a:t>
            </a:r>
            <a:endParaRPr lang="en-US" sz="1300" dirty="0"/>
          </a:p>
        </p:txBody>
      </p:sp>
      <p:sp>
        <p:nvSpPr>
          <p:cNvPr id="6" name="Shape 3"/>
          <p:cNvSpPr/>
          <p:nvPr/>
        </p:nvSpPr>
        <p:spPr>
          <a:xfrm>
            <a:off x="777240" y="1783080"/>
            <a:ext cx="7863840" cy="685800"/>
          </a:xfrm>
          <a:prstGeom prst="roundRect">
            <a:avLst>
              <a:gd name="adj" fmla="val 10667"/>
            </a:avLst>
          </a:prstGeom>
          <a:solidFill>
            <a:srgbClr val="242A52"/>
          </a:solidFill>
          <a:ln w="12700">
            <a:solidFill>
              <a:srgbClr val="94A3B8"/>
            </a:solidFill>
            <a:prstDash val="dash"/>
          </a:ln>
        </p:spPr>
        <p:txBody>
          <a:bodyPr/>
          <a:lstStyle/>
          <a:p>
            <a:endParaRPr lang="en-IN"/>
          </a:p>
        </p:txBody>
      </p:sp>
      <p:sp>
        <p:nvSpPr>
          <p:cNvPr id="7" name="Text 4"/>
          <p:cNvSpPr/>
          <p:nvPr/>
        </p:nvSpPr>
        <p:spPr>
          <a:xfrm>
            <a:off x="1005840" y="1947672"/>
            <a:ext cx="7406640" cy="356616"/>
          </a:xfrm>
          <a:prstGeom prst="rect">
            <a:avLst/>
          </a:prstGeom>
          <a:noFill/>
          <a:ln/>
        </p:spPr>
        <p:txBody>
          <a:bodyPr wrap="square" lIns="0" tIns="0" rIns="0" bIns="0" rtlCol="0" anchor="t"/>
          <a:lstStyle/>
          <a:p>
            <a:pPr marL="0" indent="0">
              <a:lnSpc>
                <a:spcPct val="125000"/>
              </a:lnSpc>
              <a:buNone/>
              <a:defRPr sz="2400" b="1">
                <a:solidFill>
                  <a:srgbClr val="00A032"/>
                </a:solidFill>
              </a:defRPr>
            </a:pPr>
            <a:r>
              <a:t>AEGIS — Event Grammar Probabilistic Model (EGPM)</a:t>
            </a:r>
            <a:endParaRPr lang="en-US" sz="2600" dirty="0"/>
          </a:p>
        </p:txBody>
      </p:sp>
      <p:sp>
        <p:nvSpPr>
          <p:cNvPr id="8" name="Text 5"/>
          <p:cNvSpPr/>
          <p:nvPr/>
        </p:nvSpPr>
        <p:spPr>
          <a:xfrm>
            <a:off x="777240" y="2697480"/>
            <a:ext cx="7315200" cy="274320"/>
          </a:xfrm>
          <a:prstGeom prst="rect">
            <a:avLst/>
          </a:prstGeom>
          <a:noFill/>
          <a:ln/>
        </p:spPr>
        <p:txBody>
          <a:bodyPr wrap="square" lIns="0" tIns="0" rIns="0" bIns="0" rtlCol="0" anchor="ctr"/>
          <a:lstStyle/>
          <a:p>
            <a:pPr marL="0" indent="0">
              <a:buNone/>
              <a:defRPr sz="1100" b="1">
                <a:solidFill>
                  <a:srgbClr val="787878"/>
                </a:solidFill>
              </a:defRPr>
            </a:pPr>
            <a:r>
              <a:t>CHOSEN HACKATHON THEME</a:t>
            </a:r>
            <a:endParaRPr lang="en-US" sz="1100" dirty="0"/>
          </a:p>
        </p:txBody>
      </p:sp>
      <p:sp>
        <p:nvSpPr>
          <p:cNvPr id="11" name="Shape 8"/>
          <p:cNvSpPr/>
          <p:nvPr/>
        </p:nvSpPr>
        <p:spPr>
          <a:xfrm>
            <a:off x="777240" y="3017520"/>
            <a:ext cx="5800000" cy="384048"/>
          </a:xfrm>
          <a:prstGeom prst="roundRect">
            <a:avLst>
              <a:gd name="adj" fmla="val 19048"/>
            </a:avLst>
          </a:prstGeom>
          <a:solidFill>
            <a:srgbClr val="242A52"/>
          </a:solidFill>
          <a:ln w="12700">
            <a:solidFill>
              <a:srgbClr val="3B82F6"/>
            </a:solidFill>
            <a:prstDash val="solid"/>
          </a:ln>
        </p:spPr>
        <p:txBody>
          <a:bodyPr/>
          <a:lstStyle/>
          <a:p>
            <a:endParaRPr lang="en-IN"/>
          </a:p>
        </p:txBody>
      </p:sp>
      <p:sp>
        <p:nvSpPr>
          <p:cNvPr id="12" name="Text 9"/>
          <p:cNvSpPr/>
          <p:nvPr/>
        </p:nvSpPr>
        <p:spPr>
          <a:xfrm>
            <a:off x="870000" y="3017520"/>
            <a:ext cx="5600000" cy="384048"/>
          </a:xfrm>
          <a:prstGeom prst="rect">
            <a:avLst/>
          </a:prstGeom>
          <a:noFill/>
          <a:ln/>
        </p:spPr>
        <p:txBody>
          <a:bodyPr wrap="square" lIns="0" tIns="0" rIns="0" bIns="0" rtlCol="0" anchor="ctr"/>
          <a:lstStyle/>
          <a:p>
            <a:pPr marL="0" indent="0">
              <a:buNone/>
              <a:defRPr sz="1200" b="1">
                <a:solidFill>
                  <a:srgbClr val="00A032"/>
                </a:solidFill>
              </a:defRPr>
            </a:pPr>
            <a:r>
              <a:t>✔ Energy Intelligence &amp; Sustainability (Predictive Maintenance)</a:t>
            </a:r>
          </a:p>
        </p:txBody>
      </p:sp>
      <p:pic>
        <p:nvPicPr>
          <p:cNvPr id="17" name="Image 1" descr="icons/layers_cyan.png"/>
          <p:cNvPicPr>
            <a:picLocks noChangeAspect="1"/>
          </p:cNvPicPr>
          <p:nvPr/>
        </p:nvPicPr>
        <p:blipFill>
          <a:blip r:embed="rId4"/>
          <a:stretch>
            <a:fillRect/>
          </a:stretch>
        </p:blipFill>
        <p:spPr>
          <a:xfrm>
            <a:off x="777240" y="4818888"/>
            <a:ext cx="320040" cy="320040"/>
          </a:xfrm>
          <a:prstGeom prst="rect">
            <a:avLst/>
          </a:prstGeom>
        </p:spPr>
      </p:pic>
      <p:sp>
        <p:nvSpPr>
          <p:cNvPr id="18" name="Text 14"/>
          <p:cNvSpPr/>
          <p:nvPr/>
        </p:nvSpPr>
        <p:spPr>
          <a:xfrm>
            <a:off x="1234440" y="4818888"/>
            <a:ext cx="3200400" cy="274320"/>
          </a:xfrm>
          <a:prstGeom prst="rect">
            <a:avLst/>
          </a:prstGeom>
          <a:noFill/>
          <a:ln/>
        </p:spPr>
        <p:txBody>
          <a:bodyPr wrap="square" lIns="0" tIns="0" rIns="0" bIns="0" rtlCol="0" anchor="ctr"/>
          <a:lstStyle/>
          <a:p>
            <a:pPr marL="0" indent="0">
              <a:buNone/>
            </a:pPr>
            <a:r>
              <a:rPr lang="en-US" sz="1000" b="1" kern="0" spc="100" dirty="0">
                <a:solidFill>
                  <a:srgbClr val="94A3B8"/>
                </a:solidFill>
                <a:latin typeface="Calibri" pitchFamily="34" charset="0"/>
                <a:ea typeface="Calibri" pitchFamily="34" charset="-122"/>
                <a:cs typeface="Calibri" pitchFamily="34" charset="-120"/>
              </a:rPr>
              <a:t>BRANCH</a:t>
            </a:r>
            <a:endParaRPr lang="en-US" sz="1000" dirty="0"/>
          </a:p>
        </p:txBody>
      </p:sp>
      <p:sp>
        <p:nvSpPr>
          <p:cNvPr id="19" name="Text 15"/>
          <p:cNvSpPr/>
          <p:nvPr/>
        </p:nvSpPr>
        <p:spPr>
          <a:xfrm>
            <a:off x="1234440" y="5093208"/>
            <a:ext cx="3200400" cy="320040"/>
          </a:xfrm>
          <a:prstGeom prst="rect">
            <a:avLst/>
          </a:prstGeom>
          <a:noFill/>
          <a:ln/>
        </p:spPr>
        <p:txBody>
          <a:bodyPr wrap="square" lIns="0" tIns="0" rIns="0" bIns="0" rtlCol="0" anchor="ctr"/>
          <a:lstStyle/>
          <a:p>
            <a:pPr marL="0" indent="0">
              <a:buNone/>
              <a:defRPr sz="1200" b="1"/>
            </a:pPr>
            <a:r>
              <a:t>Computer Science &amp; Electrical Engineering (Interdisciplinary Duo)</a:t>
            </a:r>
            <a:endParaRPr lang="en-US" sz="1300" dirty="0"/>
          </a:p>
        </p:txBody>
      </p:sp>
      <p:pic>
        <p:nvPicPr>
          <p:cNvPr id="20" name="Image 2" descr="icons/users_cyan.png"/>
          <p:cNvPicPr>
            <a:picLocks noChangeAspect="1"/>
          </p:cNvPicPr>
          <p:nvPr/>
        </p:nvPicPr>
        <p:blipFill>
          <a:blip r:embed="rId5"/>
          <a:stretch>
            <a:fillRect/>
          </a:stretch>
        </p:blipFill>
        <p:spPr>
          <a:xfrm>
            <a:off x="4800600" y="4818888"/>
            <a:ext cx="320040" cy="320040"/>
          </a:xfrm>
          <a:prstGeom prst="rect">
            <a:avLst/>
          </a:prstGeom>
        </p:spPr>
      </p:pic>
      <p:sp>
        <p:nvSpPr>
          <p:cNvPr id="21" name="Text 16"/>
          <p:cNvSpPr/>
          <p:nvPr/>
        </p:nvSpPr>
        <p:spPr>
          <a:xfrm>
            <a:off x="5257800" y="4818888"/>
            <a:ext cx="3200400" cy="274320"/>
          </a:xfrm>
          <a:prstGeom prst="rect">
            <a:avLst/>
          </a:prstGeom>
          <a:noFill/>
          <a:ln/>
        </p:spPr>
        <p:txBody>
          <a:bodyPr wrap="square" lIns="0" tIns="0" rIns="0" bIns="0" rtlCol="0" anchor="ctr"/>
          <a:lstStyle/>
          <a:p>
            <a:pPr marL="0" indent="0">
              <a:buNone/>
            </a:pPr>
            <a:r>
              <a:rPr lang="en-US" sz="1000" b="1" kern="0" spc="100" dirty="0">
                <a:solidFill>
                  <a:srgbClr val="94A3B8"/>
                </a:solidFill>
                <a:latin typeface="Calibri" pitchFamily="34" charset="0"/>
                <a:ea typeface="Calibri" pitchFamily="34" charset="-122"/>
                <a:cs typeface="Calibri" pitchFamily="34" charset="-120"/>
              </a:rPr>
              <a:t>TEAM SIZE</a:t>
            </a:r>
            <a:endParaRPr lang="en-US" sz="1000" dirty="0"/>
          </a:p>
        </p:txBody>
      </p:sp>
      <p:sp>
        <p:nvSpPr>
          <p:cNvPr id="22" name="Text 17"/>
          <p:cNvSpPr/>
          <p:nvPr/>
        </p:nvSpPr>
        <p:spPr>
          <a:xfrm>
            <a:off x="5257800" y="5093208"/>
            <a:ext cx="3200400" cy="320040"/>
          </a:xfrm>
          <a:prstGeom prst="rect">
            <a:avLst/>
          </a:prstGeom>
          <a:noFill/>
          <a:ln/>
        </p:spPr>
        <p:txBody>
          <a:bodyPr wrap="square" lIns="0" tIns="0" rIns="0" bIns="0" rtlCol="0" anchor="ctr"/>
          <a:lstStyle/>
          <a:p>
            <a:pPr marL="0" indent="0">
              <a:buNone/>
              <a:defRPr sz="1200" b="1"/>
            </a:pPr>
            <a:r>
              <a:t>2 Members: Atharva Mendhulkar &amp; Divyansh Seth</a:t>
            </a:r>
            <a:endParaRPr lang="en-US" sz="1300" dirty="0"/>
          </a:p>
        </p:txBody>
      </p:sp>
      <p:sp>
        <p:nvSpPr>
          <p:cNvPr id="23" name="Shape 18"/>
          <p:cNvSpPr/>
          <p:nvPr/>
        </p:nvSpPr>
        <p:spPr>
          <a:xfrm>
            <a:off x="777240" y="5733288"/>
            <a:ext cx="7863840" cy="0"/>
          </a:xfrm>
          <a:prstGeom prst="line">
            <a:avLst/>
          </a:prstGeom>
          <a:noFill/>
          <a:ln w="12700">
            <a:solidFill>
              <a:srgbClr val="94A3B8">
                <a:alpha val="40000"/>
              </a:srgbClr>
            </a:solidFill>
            <a:prstDash val="solid"/>
          </a:ln>
        </p:spPr>
        <p:txBody>
          <a:bodyPr/>
          <a:lstStyle/>
          <a:p>
            <a:endParaRPr lang="en-IN"/>
          </a:p>
        </p:txBody>
      </p:sp>
      <p:sp>
        <p:nvSpPr>
          <p:cNvPr id="24" name="Text 19"/>
          <p:cNvSpPr/>
          <p:nvPr/>
        </p:nvSpPr>
        <p:spPr>
          <a:xfrm>
            <a:off x="777240" y="5870448"/>
            <a:ext cx="7863840" cy="365760"/>
          </a:xfrm>
          <a:prstGeom prst="rect">
            <a:avLst/>
          </a:prstGeom>
          <a:noFill/>
          <a:ln/>
        </p:spPr>
        <p:txBody>
          <a:bodyPr wrap="square" lIns="0" tIns="0" rIns="0" bIns="0" rtlCol="0" anchor="ctr"/>
          <a:lstStyle/>
          <a:p>
            <a:pPr marL="0" indent="0">
              <a:buNone/>
            </a:pPr>
            <a:r>
              <a:rPr lang="en-US" sz="1200" i="1" dirty="0">
                <a:solidFill>
                  <a:srgbClr val="94A3B8"/>
                </a:solidFill>
                <a:latin typeface="Calibri" pitchFamily="34" charset="0"/>
                <a:ea typeface="Calibri" pitchFamily="34" charset="-122"/>
                <a:cs typeface="Calibri" pitchFamily="34" charset="-120"/>
              </a:rPr>
              <a:t>Powering Predictive Intelligence  —  A PredictX Campus Hackathon Submission</a:t>
            </a:r>
            <a:endParaRPr lang="en-US" sz="1200" dirty="0"/>
          </a:p>
        </p:txBody>
      </p:sp>
      <p:sp>
        <p:nvSpPr>
          <p:cNvPr id="26" name="Text 20"/>
          <p:cNvSpPr/>
          <p:nvPr/>
        </p:nvSpPr>
        <p:spPr>
          <a:xfrm>
            <a:off x="548640" y="6537960"/>
            <a:ext cx="5486400" cy="274320"/>
          </a:xfrm>
          <a:prstGeom prst="rect">
            <a:avLst/>
          </a:prstGeom>
          <a:noFill/>
          <a:ln/>
        </p:spPr>
        <p:txBody>
          <a:bodyPr wrap="square" lIns="0" tIns="0" rIns="0" bIns="0" rtlCol="0" anchor="ctr"/>
          <a:lstStyle/>
          <a:p>
            <a:pPr marL="0" indent="0">
              <a:buNone/>
            </a:pPr>
            <a:r>
              <a:rPr lang="en-US" sz="900" dirty="0">
                <a:solidFill>
                  <a:srgbClr val="94A3B8"/>
                </a:solidFill>
                <a:latin typeface="Calibri" pitchFamily="34" charset="0"/>
                <a:ea typeface="Calibri" pitchFamily="34" charset="-122"/>
                <a:cs typeface="Calibri" pitchFamily="34" charset="-120"/>
              </a:rPr>
              <a:t>PredictX  ·  Team Pitch Deck Template</a:t>
            </a:r>
            <a:endParaRPr lang="en-US" sz="900" dirty="0"/>
          </a:p>
        </p:txBody>
      </p:sp>
      <p:sp>
        <p:nvSpPr>
          <p:cNvPr id="27" name="Text 21"/>
          <p:cNvSpPr/>
          <p:nvPr/>
        </p:nvSpPr>
        <p:spPr>
          <a:xfrm>
            <a:off x="11521440" y="6537960"/>
            <a:ext cx="365760" cy="274320"/>
          </a:xfrm>
          <a:prstGeom prst="rect">
            <a:avLst/>
          </a:prstGeom>
          <a:noFill/>
          <a:ln/>
        </p:spPr>
        <p:txBody>
          <a:bodyPr wrap="square" lIns="0" tIns="0" rIns="0" bIns="0" rtlCol="0" anchor="ctr"/>
          <a:lstStyle/>
          <a:p>
            <a:pPr marL="0" indent="0" algn="r">
              <a:buNone/>
            </a:pPr>
            <a:r>
              <a:rPr lang="en-US" sz="900" dirty="0">
                <a:solidFill>
                  <a:srgbClr val="94A3B8"/>
                </a:solidFill>
                <a:latin typeface="Calibri" pitchFamily="34" charset="0"/>
                <a:ea typeface="Calibri" pitchFamily="34" charset="-122"/>
                <a:cs typeface="Calibri" pitchFamily="34" charset="-120"/>
              </a:rPr>
              <a:t>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B1F3B"/>
        </a:solidFill>
        <a:effectLst/>
      </p:bgPr>
    </p:bg>
    <p:spTree>
      <p:nvGrpSpPr>
        <p:cNvPr id="1" name=""/>
        <p:cNvGrpSpPr/>
        <p:nvPr/>
      </p:nvGrpSpPr>
      <p:grpSpPr>
        <a:xfrm>
          <a:off x="0" y="0"/>
          <a:ext cx="0" cy="0"/>
          <a:chOff x="0" y="0"/>
          <a:chExt cx="0" cy="0"/>
        </a:xfrm>
      </p:grpSpPr>
      <p:sp>
        <p:nvSpPr>
          <p:cNvPr id="7" name="Shape 4"/>
          <p:cNvSpPr/>
          <p:nvPr/>
        </p:nvSpPr>
        <p:spPr>
          <a:xfrm>
            <a:off x="205740" y="699516"/>
            <a:ext cx="10881360" cy="1188720"/>
          </a:xfrm>
          <a:prstGeom prst="roundRect">
            <a:avLst>
              <a:gd name="adj" fmla="val 6154"/>
            </a:avLst>
          </a:prstGeom>
          <a:solidFill>
            <a:srgbClr val="242A52"/>
          </a:solidFill>
          <a:ln w="12700">
            <a:solidFill>
              <a:srgbClr val="94A3B8"/>
            </a:solidFill>
            <a:prstDash val="dash"/>
          </a:ln>
        </p:spPr>
        <p:txBody>
          <a:bodyPr/>
          <a:lstStyle/>
          <a:p>
            <a:endParaRPr lang="en-IN"/>
          </a:p>
        </p:txBody>
      </p:sp>
      <p:sp>
        <p:nvSpPr>
          <p:cNvPr id="2" name="Shape 0"/>
          <p:cNvSpPr/>
          <p:nvPr/>
        </p:nvSpPr>
        <p:spPr>
          <a:xfrm>
            <a:off x="10241280" y="-1645920"/>
            <a:ext cx="4114800" cy="4114800"/>
          </a:xfrm>
          <a:prstGeom prst="ellipse">
            <a:avLst/>
          </a:prstGeom>
          <a:solidFill>
            <a:srgbClr val="3B82F6">
              <a:alpha val="12000"/>
            </a:srgbClr>
          </a:solidFill>
          <a:ln/>
        </p:spPr>
        <p:txBody>
          <a:bodyPr/>
          <a:lstStyle/>
          <a:p>
            <a:endParaRPr lang="en-IN"/>
          </a:p>
        </p:txBody>
      </p:sp>
      <p:sp>
        <p:nvSpPr>
          <p:cNvPr id="3" name="Shape 1"/>
          <p:cNvSpPr/>
          <p:nvPr/>
        </p:nvSpPr>
        <p:spPr>
          <a:xfrm>
            <a:off x="-1463040" y="4846320"/>
            <a:ext cx="3657600" cy="3657600"/>
          </a:xfrm>
          <a:prstGeom prst="ellipse">
            <a:avLst/>
          </a:prstGeom>
          <a:solidFill>
            <a:srgbClr val="22D3EE">
              <a:alpha val="10000"/>
            </a:srgbClr>
          </a:solidFill>
          <a:ln/>
        </p:spPr>
        <p:txBody>
          <a:bodyPr/>
          <a:lstStyle/>
          <a:p>
            <a:endParaRPr lang="en-IN"/>
          </a:p>
        </p:txBody>
      </p:sp>
      <p:sp>
        <p:nvSpPr>
          <p:cNvPr id="4" name="Text 2"/>
          <p:cNvSpPr/>
          <p:nvPr/>
        </p:nvSpPr>
        <p:spPr>
          <a:xfrm>
            <a:off x="228600" y="114300"/>
            <a:ext cx="10515600" cy="594360"/>
          </a:xfrm>
          <a:prstGeom prst="rect">
            <a:avLst/>
          </a:prstGeom>
          <a:noFill/>
          <a:ln/>
        </p:spPr>
        <p:txBody>
          <a:bodyPr wrap="square" lIns="0" tIns="0" rIns="0" bIns="0" rtlCol="0" anchor="ctr"/>
          <a:lstStyle/>
          <a:p>
            <a:pPr marL="0" indent="0">
              <a:buNone/>
              <a:defRPr sz="2000" b="1">
                <a:solidFill>
                  <a:srgbClr val="00A032"/>
                </a:solidFill>
              </a:defRPr>
            </a:pPr>
            <a:r>
              <a:t>AEGIS: Unified Neuro-Symbolic Predictive Maintenance</a:t>
            </a:r>
            <a:endParaRPr lang="en-US" sz="3000" dirty="0"/>
          </a:p>
        </p:txBody>
      </p:sp>
      <p:sp>
        <p:nvSpPr>
          <p:cNvPr id="5" name="Text 3"/>
          <p:cNvSpPr/>
          <p:nvPr/>
        </p:nvSpPr>
        <p:spPr>
          <a:xfrm>
            <a:off x="365760" y="822960"/>
            <a:ext cx="10515600" cy="365760"/>
          </a:xfrm>
          <a:prstGeom prst="rect">
            <a:avLst/>
          </a:prstGeom>
          <a:noFill/>
          <a:ln/>
        </p:spPr>
        <p:txBody>
          <a:bodyPr wrap="square" lIns="0" tIns="0" rIns="0" bIns="0" rtlCol="0" anchor="ctr"/>
          <a:lstStyle/>
          <a:p>
            <a:pPr marL="0" indent="0">
              <a:buNone/>
            </a:pPr>
            <a:r>
              <a:rPr lang="en-US" sz="1350" i="1" dirty="0">
                <a:solidFill>
                  <a:srgbClr val="94A3B8"/>
                </a:solidFill>
                <a:latin typeface="Calibri" pitchFamily="34" charset="0"/>
                <a:ea typeface="Calibri" pitchFamily="34" charset="-122"/>
                <a:cs typeface="Calibri" pitchFamily="34" charset="-120"/>
              </a:rPr>
              <a:t>What real-world problem are you solving, and for whom?</a:t>
            </a:r>
            <a:endParaRPr lang="en-US" sz="1350" dirty="0"/>
          </a:p>
        </p:txBody>
      </p:sp>
      <p:sp>
        <p:nvSpPr>
          <p:cNvPr id="8" name="Text 5"/>
          <p:cNvSpPr/>
          <p:nvPr/>
        </p:nvSpPr>
        <p:spPr>
          <a:xfrm>
            <a:off x="365760" y="1234440"/>
            <a:ext cx="10424160" cy="859536"/>
          </a:xfrm>
          <a:prstGeom prst="rect">
            <a:avLst/>
          </a:prstGeom>
          <a:noFill/>
          <a:ln/>
        </p:spPr>
        <p:txBody>
          <a:bodyPr wrap="square" lIns="0" tIns="0" rIns="0" bIns="0" rtlCol="0" anchor="t"/>
          <a:lstStyle/>
          <a:p>
            <a:pPr marL="0" indent="0">
              <a:lnSpc>
                <a:spcPct val="125000"/>
              </a:lnSpc>
              <a:buNone/>
              <a:defRPr sz="1100"/>
            </a:pPr>
            <a:r>
              <a:t>Critical electrical switchgear and data center cooling assets suffer from architectural fragmentation: facilities run 4 disconnected black-box models (RUL, anomaly, fault, health) that quadruplicate compute and drift maintenance. Crucially, black boxes output uncalibrated point estimates and post-hoc SHAP illusions that violate physical degradation wear physics, leaving reliability engineers unable to certify safe operation.</a:t>
            </a:r>
            <a:endParaRPr lang="en-US" sz="1400" dirty="0"/>
          </a:p>
        </p:txBody>
      </p:sp>
      <p:sp>
        <p:nvSpPr>
          <p:cNvPr id="18" name="Text 15"/>
          <p:cNvSpPr/>
          <p:nvPr/>
        </p:nvSpPr>
        <p:spPr>
          <a:xfrm>
            <a:off x="548640" y="6537960"/>
            <a:ext cx="5486400" cy="274320"/>
          </a:xfrm>
          <a:prstGeom prst="rect">
            <a:avLst/>
          </a:prstGeom>
          <a:noFill/>
          <a:ln/>
        </p:spPr>
        <p:txBody>
          <a:bodyPr wrap="square" lIns="0" tIns="0" rIns="0" bIns="0" rtlCol="0" anchor="ctr"/>
          <a:lstStyle/>
          <a:p>
            <a:pPr marL="0" indent="0">
              <a:buNone/>
            </a:pPr>
            <a:r>
              <a:rPr lang="en-US" sz="900" dirty="0">
                <a:solidFill>
                  <a:srgbClr val="94A3B8"/>
                </a:solidFill>
                <a:latin typeface="Calibri" pitchFamily="34" charset="0"/>
                <a:ea typeface="Calibri" pitchFamily="34" charset="-122"/>
                <a:cs typeface="Calibri" pitchFamily="34" charset="-120"/>
              </a:rPr>
              <a:t>PredictX  ·  Team Pitch Deck Template</a:t>
            </a:r>
            <a:endParaRPr lang="en-US" sz="900" dirty="0"/>
          </a:p>
        </p:txBody>
      </p:sp>
      <p:sp>
        <p:nvSpPr>
          <p:cNvPr id="19" name="Text 16"/>
          <p:cNvSpPr/>
          <p:nvPr/>
        </p:nvSpPr>
        <p:spPr>
          <a:xfrm>
            <a:off x="11521440" y="6537960"/>
            <a:ext cx="365760" cy="274320"/>
          </a:xfrm>
          <a:prstGeom prst="rect">
            <a:avLst/>
          </a:prstGeom>
          <a:noFill/>
          <a:ln/>
        </p:spPr>
        <p:txBody>
          <a:bodyPr wrap="square" lIns="0" tIns="0" rIns="0" bIns="0" rtlCol="0" anchor="ctr"/>
          <a:lstStyle/>
          <a:p>
            <a:pPr marL="0" indent="0" algn="r">
              <a:buNone/>
            </a:pPr>
            <a:r>
              <a:rPr lang="en-US" sz="900" dirty="0">
                <a:solidFill>
                  <a:srgbClr val="94A3B8"/>
                </a:solidFill>
                <a:latin typeface="Calibri" pitchFamily="34" charset="0"/>
                <a:ea typeface="Calibri" pitchFamily="34" charset="-122"/>
                <a:cs typeface="Calibri" pitchFamily="34" charset="-120"/>
              </a:rPr>
              <a:t>2</a:t>
            </a:r>
            <a:endParaRPr lang="en-US" sz="900" dirty="0"/>
          </a:p>
        </p:txBody>
      </p:sp>
      <p:sp>
        <p:nvSpPr>
          <p:cNvPr id="22" name="Shape 7">
            <a:extLst>
              <a:ext uri="{FF2B5EF4-FFF2-40B4-BE49-F238E27FC236}">
                <a16:creationId xmlns:a16="http://schemas.microsoft.com/office/drawing/2014/main" id="{1D2278B0-1A9E-D333-EAF6-9B1E1C6D44D6}"/>
              </a:ext>
            </a:extLst>
          </p:cNvPr>
          <p:cNvSpPr/>
          <p:nvPr/>
        </p:nvSpPr>
        <p:spPr>
          <a:xfrm>
            <a:off x="228600" y="2020062"/>
            <a:ext cx="4744720" cy="4312158"/>
          </a:xfrm>
          <a:prstGeom prst="roundRect">
            <a:avLst>
              <a:gd name="adj" fmla="val 2286"/>
            </a:avLst>
          </a:prstGeom>
          <a:solidFill>
            <a:srgbClr val="242A52"/>
          </a:solidFill>
          <a:ln w="12700">
            <a:solidFill>
              <a:srgbClr val="94A3B8"/>
            </a:solidFill>
            <a:prstDash val="dash"/>
          </a:ln>
        </p:spPr>
        <p:txBody>
          <a:bodyPr/>
          <a:lstStyle/>
          <a:p>
            <a:endParaRPr lang="en-IN"/>
          </a:p>
        </p:txBody>
      </p:sp>
      <p:sp>
        <p:nvSpPr>
          <p:cNvPr id="23" name="Text 8">
            <a:extLst>
              <a:ext uri="{FF2B5EF4-FFF2-40B4-BE49-F238E27FC236}">
                <a16:creationId xmlns:a16="http://schemas.microsoft.com/office/drawing/2014/main" id="{F702F55C-C5BB-143B-28A7-765BBA5CF38B}"/>
              </a:ext>
            </a:extLst>
          </p:cNvPr>
          <p:cNvSpPr/>
          <p:nvPr/>
        </p:nvSpPr>
        <p:spPr>
          <a:xfrm>
            <a:off x="457200" y="2359152"/>
            <a:ext cx="4231640" cy="2871216"/>
          </a:xfrm>
          <a:prstGeom prst="rect">
            <a:avLst/>
          </a:prstGeom>
          <a:noFill/>
          <a:ln/>
        </p:spPr>
        <p:txBody>
          <a:bodyPr wrap="square" lIns="0" tIns="0" rIns="0" bIns="0" rtlCol="0" anchor="t"/>
          <a:lstStyle/>
          <a:p>
            <a:pPr marL="0" indent="0">
              <a:lnSpc>
                <a:spcPct val="125000"/>
              </a:lnSpc>
              <a:buNone/>
              <a:defRPr sz="1100"/>
            </a:pPr>
            <a:r>
              <a:t>AEGIS unifies all predictive maintenance into a single inspectable state representation. Multivariate telemetry is mapped via 1D causal convolutions and Vector Quantization (K=16) into learned discrete events. An explicit-duration HSMM (M=5, D_max=10) models non-exponential dwell physics. Four bottlenecked heads deliver Remaining Useful Life with 90% Conformal Prediction intervals, acoustic anomaly detection, fault recognition, and health scoring with zero-hallucination explanations and counterfactual what-if simulations.</a:t>
            </a:r>
            <a:endParaRPr lang="en-US" sz="1300" dirty="0"/>
          </a:p>
        </p:txBody>
      </p:sp>
      <p:sp>
        <p:nvSpPr>
          <p:cNvPr id="24" name="Shape 29">
            <a:extLst>
              <a:ext uri="{FF2B5EF4-FFF2-40B4-BE49-F238E27FC236}">
                <a16:creationId xmlns:a16="http://schemas.microsoft.com/office/drawing/2014/main" id="{3D877865-455F-0821-DF26-7DDB7DF9C3A3}"/>
              </a:ext>
            </a:extLst>
          </p:cNvPr>
          <p:cNvSpPr/>
          <p:nvPr/>
        </p:nvSpPr>
        <p:spPr>
          <a:xfrm>
            <a:off x="5270500" y="2020062"/>
            <a:ext cx="4569460" cy="4312158"/>
          </a:xfrm>
          <a:prstGeom prst="roundRect">
            <a:avLst>
              <a:gd name="adj" fmla="val 3200"/>
            </a:avLst>
          </a:prstGeom>
          <a:solidFill>
            <a:srgbClr val="242A52"/>
          </a:solidFill>
          <a:ln w="12700">
            <a:solidFill>
              <a:srgbClr val="94A3B8"/>
            </a:solidFill>
            <a:prstDash val="dash"/>
          </a:ln>
        </p:spPr>
        <p:txBody>
          <a:bodyPr/>
          <a:lstStyle/>
          <a:p>
            <a:endParaRPr lang="en-IN"/>
          </a:p>
        </p:txBody>
      </p:sp>
      <p:sp>
        <p:nvSpPr>
          <p:cNvPr id="25" name="Text 30">
            <a:extLst>
              <a:ext uri="{FF2B5EF4-FFF2-40B4-BE49-F238E27FC236}">
                <a16:creationId xmlns:a16="http://schemas.microsoft.com/office/drawing/2014/main" id="{31645C2D-07B7-A3BB-18C9-ED97BE37A7DD}"/>
              </a:ext>
            </a:extLst>
          </p:cNvPr>
          <p:cNvSpPr/>
          <p:nvPr/>
        </p:nvSpPr>
        <p:spPr>
          <a:xfrm>
            <a:off x="5521960" y="2265426"/>
            <a:ext cx="4170680" cy="2779776"/>
          </a:xfrm>
          <a:prstGeom prst="rect">
            <a:avLst/>
          </a:prstGeom>
          <a:noFill/>
          <a:ln/>
        </p:spPr>
        <p:txBody>
          <a:bodyPr wrap="square" lIns="0" tIns="0" rIns="0" bIns="0" rtlCol="0" anchor="t"/>
          <a:lstStyle/>
          <a:p>
            <a:pPr marL="0" indent="0">
              <a:lnSpc>
                <a:spcPct val="125000"/>
              </a:lnSpc>
              <a:buNone/>
              <a:defRPr sz="1100"/>
            </a:pPr>
            <a:r>
              <a:t>Evaluated under locked causal Leave-One-Engine-Out (LOEO) protocol: achieves 18.1 RMSE on N-CMAPSS DS01, outperforming deep CNN (34.0) and LSTM (38.9) by 15.9–20.8 RMSE (47–53% error reduction). On MIMII industrial fans across 4 machines and 3 seeds, our continuous HSMM achieves 0.628 Macro AUROC. Engine-level conformal calibration delivers verified 92% empirical coverage at 90% nominal confidence. Validated by 260 automated tests passing with zero failures.</a:t>
            </a:r>
            <a:endParaRPr lang="en-US" sz="1300" dirty="0"/>
          </a:p>
        </p:txBody>
      </p:sp>
      <p:sp>
        <p:nvSpPr>
          <p:cNvPr id="26" name="Shape 29">
            <a:extLst>
              <a:ext uri="{FF2B5EF4-FFF2-40B4-BE49-F238E27FC236}">
                <a16:creationId xmlns:a16="http://schemas.microsoft.com/office/drawing/2014/main" id="{B233D944-B35E-C769-C3E2-552766FEA38C}"/>
              </a:ext>
            </a:extLst>
          </p:cNvPr>
          <p:cNvSpPr/>
          <p:nvPr/>
        </p:nvSpPr>
        <p:spPr>
          <a:xfrm>
            <a:off x="10027920" y="2002536"/>
            <a:ext cx="1976120" cy="4312158"/>
          </a:xfrm>
          <a:prstGeom prst="roundRect">
            <a:avLst>
              <a:gd name="adj" fmla="val 3200"/>
            </a:avLst>
          </a:prstGeom>
          <a:solidFill>
            <a:srgbClr val="242A52"/>
          </a:solidFill>
          <a:ln w="12700">
            <a:solidFill>
              <a:srgbClr val="94A3B8"/>
            </a:solidFill>
            <a:prstDash val="dash"/>
          </a:ln>
        </p:spPr>
        <p:txBody>
          <a:bodyPr/>
          <a:lstStyle/>
          <a:p>
            <a:endParaRPr lang="en-IN"/>
          </a:p>
        </p:txBody>
      </p:sp>
      <p:pic>
        <p:nvPicPr>
          <p:cNvPr id="27" name="Image 1" descr="icons/microchip_cyan.png">
            <a:extLst>
              <a:ext uri="{FF2B5EF4-FFF2-40B4-BE49-F238E27FC236}">
                <a16:creationId xmlns:a16="http://schemas.microsoft.com/office/drawing/2014/main" id="{D8AD460F-E59C-3114-90F8-542E8D894683}"/>
              </a:ext>
            </a:extLst>
          </p:cNvPr>
          <p:cNvPicPr>
            <a:picLocks noChangeAspect="1"/>
          </p:cNvPicPr>
          <p:nvPr/>
        </p:nvPicPr>
        <p:blipFill>
          <a:blip r:embed="rId3"/>
          <a:stretch>
            <a:fillRect/>
          </a:stretch>
        </p:blipFill>
        <p:spPr>
          <a:xfrm>
            <a:off x="10137140" y="2182876"/>
            <a:ext cx="365760" cy="365760"/>
          </a:xfrm>
          <a:prstGeom prst="rect">
            <a:avLst/>
          </a:prstGeom>
        </p:spPr>
      </p:pic>
      <p:sp>
        <p:nvSpPr>
          <p:cNvPr id="28" name="Text 5">
            <a:extLst>
              <a:ext uri="{FF2B5EF4-FFF2-40B4-BE49-F238E27FC236}">
                <a16:creationId xmlns:a16="http://schemas.microsoft.com/office/drawing/2014/main" id="{6A12354D-A857-3690-0C92-9FFB9E21481C}"/>
              </a:ext>
            </a:extLst>
          </p:cNvPr>
          <p:cNvSpPr/>
          <p:nvPr/>
        </p:nvSpPr>
        <p:spPr>
          <a:xfrm>
            <a:off x="10594340" y="2182876"/>
            <a:ext cx="1292860" cy="36576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TECH STACK</a:t>
            </a:r>
            <a:endParaRPr lang="en-US" sz="1300" dirty="0"/>
          </a:p>
        </p:txBody>
      </p:sp>
      <p:sp>
        <p:nvSpPr>
          <p:cNvPr id="29" name="Text 7">
            <a:extLst>
              <a:ext uri="{FF2B5EF4-FFF2-40B4-BE49-F238E27FC236}">
                <a16:creationId xmlns:a16="http://schemas.microsoft.com/office/drawing/2014/main" id="{F86FEDF1-0A46-DBFA-FA2F-152CE6D8FE4E}"/>
              </a:ext>
            </a:extLst>
          </p:cNvPr>
          <p:cNvSpPr/>
          <p:nvPr/>
        </p:nvSpPr>
        <p:spPr>
          <a:xfrm>
            <a:off x="10365740" y="2850388"/>
            <a:ext cx="1521460" cy="2368296"/>
          </a:xfrm>
          <a:prstGeom prst="rect">
            <a:avLst/>
          </a:prstGeom>
          <a:noFill/>
          <a:ln/>
        </p:spPr>
        <p:txBody>
          <a:bodyPr wrap="square" lIns="0" tIns="0" rIns="0" bIns="0" rtlCol="0" anchor="t"/>
          <a:lstStyle/>
          <a:p>
            <a:pPr marL="0" indent="0">
              <a:lnSpc>
                <a:spcPct val="125000"/>
              </a:lnSpc>
              <a:buNone/>
              <a:defRPr sz="1000"/>
            </a:pPr>
            <a:r>
              <a:t>Python 3.14, PyTorch, NumPy, SciPy (Forward-Backward/Viterbi), Scikit-Learn, HDF5, Matplotlib, Causal 1D-CNN, VQ-VAE (Corrected STE), Explicit-Duration HSMM, LOEO Conformal Calibration, PyTest (260 Tests). Target Hardware: Schneider Harmony edge iPC &amp; EcoStruxure Asset Advisor.</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5">
    <p:bg>
      <p:bgPr>
        <a:solidFill>
          <a:srgbClr val="1B1F3B"/>
        </a:solidFill>
        <a:effectLst/>
      </p:bgPr>
    </p:bg>
    <p:spTree>
      <p:nvGrpSpPr>
        <p:cNvPr id="1" name=""/>
        <p:cNvGrpSpPr/>
        <p:nvPr/>
      </p:nvGrpSpPr>
      <p:grpSpPr>
        <a:xfrm>
          <a:off x="0" y="0"/>
          <a:ext cx="0" cy="0"/>
          <a:chOff x="0" y="0"/>
          <a:chExt cx="0" cy="0"/>
        </a:xfrm>
      </p:grpSpPr>
      <p:sp>
        <p:nvSpPr>
          <p:cNvPr id="2" name="Shape 0"/>
          <p:cNvSpPr/>
          <p:nvPr/>
        </p:nvSpPr>
        <p:spPr>
          <a:xfrm>
            <a:off x="10241280" y="-1645920"/>
            <a:ext cx="4114800" cy="4114800"/>
          </a:xfrm>
          <a:prstGeom prst="ellipse">
            <a:avLst/>
          </a:prstGeom>
          <a:solidFill>
            <a:srgbClr val="3B82F6">
              <a:alpha val="12000"/>
            </a:srgbClr>
          </a:solidFill>
          <a:ln/>
        </p:spPr>
        <p:txBody>
          <a:bodyPr/>
          <a:lstStyle/>
          <a:p>
            <a:endParaRPr lang="en-IN"/>
          </a:p>
        </p:txBody>
      </p:sp>
      <p:sp>
        <p:nvSpPr>
          <p:cNvPr id="3" name="Shape 1"/>
          <p:cNvSpPr/>
          <p:nvPr/>
        </p:nvSpPr>
        <p:spPr>
          <a:xfrm>
            <a:off x="-1463040" y="4846320"/>
            <a:ext cx="3657600" cy="3657600"/>
          </a:xfrm>
          <a:prstGeom prst="ellipse">
            <a:avLst/>
          </a:prstGeom>
          <a:solidFill>
            <a:srgbClr val="22D3EE">
              <a:alpha val="10000"/>
            </a:srgbClr>
          </a:solidFill>
          <a:ln/>
        </p:spPr>
        <p:txBody>
          <a:bodyPr/>
          <a:lstStyle/>
          <a:p>
            <a:endParaRPr lang="en-IN"/>
          </a:p>
        </p:txBody>
      </p:sp>
      <p:sp>
        <p:nvSpPr>
          <p:cNvPr id="4" name="Text 2"/>
          <p:cNvSpPr/>
          <p:nvPr/>
        </p:nvSpPr>
        <p:spPr>
          <a:xfrm>
            <a:off x="640080" y="457200"/>
            <a:ext cx="10515600" cy="594360"/>
          </a:xfrm>
          <a:prstGeom prst="rect">
            <a:avLst/>
          </a:prstGeom>
          <a:noFill/>
          <a:ln/>
        </p:spPr>
        <p:txBody>
          <a:bodyPr wrap="square" lIns="0" tIns="0" rIns="0" bIns="0"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Innovation &amp; Differentiation</a:t>
            </a:r>
            <a:endParaRPr lang="en-US" sz="3000" dirty="0"/>
          </a:p>
        </p:txBody>
      </p:sp>
      <p:sp>
        <p:nvSpPr>
          <p:cNvPr id="5" name="Text 3"/>
          <p:cNvSpPr/>
          <p:nvPr/>
        </p:nvSpPr>
        <p:spPr>
          <a:xfrm>
            <a:off x="640080" y="1005840"/>
            <a:ext cx="10515600" cy="365760"/>
          </a:xfrm>
          <a:prstGeom prst="rect">
            <a:avLst/>
          </a:prstGeom>
          <a:noFill/>
          <a:ln/>
        </p:spPr>
        <p:txBody>
          <a:bodyPr wrap="square" lIns="0" tIns="0" rIns="0" bIns="0" rtlCol="0" anchor="ctr"/>
          <a:lstStyle/>
          <a:p>
            <a:pPr marL="0" indent="0">
              <a:buNone/>
            </a:pPr>
            <a:r>
              <a:rPr lang="en-US" sz="1350" i="1" dirty="0">
                <a:solidFill>
                  <a:srgbClr val="94A3B8"/>
                </a:solidFill>
                <a:latin typeface="Calibri" pitchFamily="34" charset="0"/>
                <a:ea typeface="Calibri" pitchFamily="34" charset="-122"/>
                <a:cs typeface="Calibri" pitchFamily="34" charset="-120"/>
              </a:rPr>
              <a:t>What makes your approach genuinely new?</a:t>
            </a:r>
            <a:endParaRPr lang="en-US" sz="1350" dirty="0"/>
          </a:p>
        </p:txBody>
      </p:sp>
      <p:sp>
        <p:nvSpPr>
          <p:cNvPr id="6" name="Shape 4"/>
          <p:cNvSpPr/>
          <p:nvPr/>
        </p:nvSpPr>
        <p:spPr>
          <a:xfrm>
            <a:off x="8869680" y="502920"/>
            <a:ext cx="2331720" cy="384048"/>
          </a:xfrm>
          <a:prstGeom prst="roundRect">
            <a:avLst>
              <a:gd name="adj" fmla="val 50000"/>
            </a:avLst>
          </a:prstGeom>
          <a:solidFill>
            <a:srgbClr val="22D3EE">
              <a:alpha val="15000"/>
            </a:srgbClr>
          </a:solidFill>
          <a:ln w="12700">
            <a:solidFill>
              <a:srgbClr val="22D3EE"/>
            </a:solidFill>
            <a:prstDash val="solid"/>
          </a:ln>
        </p:spPr>
        <p:txBody>
          <a:bodyPr/>
          <a:lstStyle/>
          <a:p>
            <a:endParaRPr lang="en-IN"/>
          </a:p>
        </p:txBody>
      </p:sp>
      <p:sp>
        <p:nvSpPr>
          <p:cNvPr id="7" name="Text 5"/>
          <p:cNvSpPr/>
          <p:nvPr/>
        </p:nvSpPr>
        <p:spPr>
          <a:xfrm>
            <a:off x="8869680" y="502920"/>
            <a:ext cx="2331720" cy="384048"/>
          </a:xfrm>
          <a:prstGeom prst="rect">
            <a:avLst/>
          </a:prstGeom>
          <a:noFill/>
          <a:ln/>
        </p:spPr>
        <p:txBody>
          <a:bodyPr wrap="square" lIns="0" tIns="0" rIns="0" bIns="0" rtlCol="0" anchor="ctr"/>
          <a:lstStyle/>
          <a:p>
            <a:pPr marL="0" indent="0" algn="ctr">
              <a:buNone/>
            </a:pPr>
            <a:r>
              <a:rPr lang="en-US" sz="1050" b="1" kern="0" spc="50" dirty="0">
                <a:solidFill>
                  <a:srgbClr val="22D3EE"/>
                </a:solidFill>
                <a:latin typeface="Calibri" pitchFamily="34" charset="0"/>
                <a:ea typeface="Calibri" pitchFamily="34" charset="-122"/>
                <a:cs typeface="Calibri" pitchFamily="34" charset="-120"/>
              </a:rPr>
              <a:t>INNOVATION &amp; ORIGINALITY · 25%</a:t>
            </a:r>
            <a:endParaRPr lang="en-US" sz="1050" dirty="0"/>
          </a:p>
        </p:txBody>
      </p:sp>
      <p:pic>
        <p:nvPicPr>
          <p:cNvPr id="8" name="Image 0" descr="icons/bolt_cyan.png"/>
          <p:cNvPicPr>
            <a:picLocks noChangeAspect="1"/>
          </p:cNvPicPr>
          <p:nvPr/>
        </p:nvPicPr>
        <p:blipFill>
          <a:blip r:embed="rId3"/>
          <a:stretch>
            <a:fillRect/>
          </a:stretch>
        </p:blipFill>
        <p:spPr>
          <a:xfrm>
            <a:off x="9784080" y="1005840"/>
            <a:ext cx="1371600" cy="1371600"/>
          </a:xfrm>
          <a:prstGeom prst="rect">
            <a:avLst/>
          </a:prstGeom>
        </p:spPr>
      </p:pic>
      <p:sp>
        <p:nvSpPr>
          <p:cNvPr id="9" name="Shape 6"/>
          <p:cNvSpPr/>
          <p:nvPr/>
        </p:nvSpPr>
        <p:spPr>
          <a:xfrm>
            <a:off x="640080" y="1874520"/>
            <a:ext cx="5120640" cy="3566160"/>
          </a:xfrm>
          <a:prstGeom prst="roundRect">
            <a:avLst>
              <a:gd name="adj" fmla="val 2308"/>
            </a:avLst>
          </a:prstGeom>
          <a:solidFill>
            <a:srgbClr val="2C3260"/>
          </a:solidFill>
          <a:ln/>
        </p:spPr>
        <p:txBody>
          <a:bodyPr/>
          <a:lstStyle/>
          <a:p>
            <a:endParaRPr lang="en-IN"/>
          </a:p>
        </p:txBody>
      </p:sp>
      <p:sp>
        <p:nvSpPr>
          <p:cNvPr id="10" name="Text 7"/>
          <p:cNvSpPr/>
          <p:nvPr/>
        </p:nvSpPr>
        <p:spPr>
          <a:xfrm>
            <a:off x="868680" y="2057400"/>
            <a:ext cx="4663440" cy="274320"/>
          </a:xfrm>
          <a:prstGeom prst="rect">
            <a:avLst/>
          </a:prstGeom>
          <a:noFill/>
          <a:ln/>
        </p:spPr>
        <p:txBody>
          <a:bodyPr wrap="square" lIns="0" tIns="0" rIns="0" bIns="0" rtlCol="0" anchor="ctr"/>
          <a:lstStyle/>
          <a:p>
            <a:pPr marL="0" indent="0">
              <a:buNone/>
            </a:pPr>
            <a:r>
              <a:rPr lang="en-US" sz="1150" b="1" kern="0" spc="100" dirty="0">
                <a:solidFill>
                  <a:srgbClr val="94A3B8"/>
                </a:solidFill>
                <a:latin typeface="Calibri" pitchFamily="34" charset="0"/>
                <a:ea typeface="Calibri" pitchFamily="34" charset="-122"/>
                <a:cs typeface="Calibri" pitchFamily="34" charset="-120"/>
              </a:rPr>
              <a:t>TODAY'S APPROACH</a:t>
            </a:r>
            <a:endParaRPr lang="en-US" sz="1150" dirty="0"/>
          </a:p>
        </p:txBody>
      </p:sp>
      <p:sp>
        <p:nvSpPr>
          <p:cNvPr id="11" name="Text 8"/>
          <p:cNvSpPr/>
          <p:nvPr/>
        </p:nvSpPr>
        <p:spPr>
          <a:xfrm>
            <a:off x="868680" y="2423160"/>
            <a:ext cx="4663440" cy="2743200"/>
          </a:xfrm>
          <a:prstGeom prst="rect">
            <a:avLst/>
          </a:prstGeom>
          <a:noFill/>
          <a:ln/>
        </p:spPr>
        <p:txBody>
          <a:bodyPr wrap="square" lIns="0" tIns="0" rIns="0" bIns="0" rtlCol="0" anchor="t"/>
          <a:lstStyle/>
          <a:p>
            <a:pPr marL="0" indent="0">
              <a:lnSpc>
                <a:spcPct val="120000"/>
              </a:lnSpc>
              <a:buNone/>
              <a:defRPr sz="1100"/>
            </a:pPr>
            <a:r>
              <a:t>• 4 Disconnected Black Boxes: Separate independent models for RUL, acoustics, fault, and health quadrupling edge compute.</a:t>
            </a:r>
            <a:br/>
            <a:r>
              <a:t>• Memoryless Assumption Flaw: Markov chains and geometric HMMs assume memoryless wear (constant hazard rates), violating mechanical and thermodynamic degradation physics.</a:t>
            </a:r>
            <a:br/>
            <a:r>
              <a:t>• Uncalibrated Point Estimates: Models predict '35 cycles left' without error bounds, causing operators to scrap 25% of healthy asset life or face catastrophic arc-flash.</a:t>
            </a:r>
            <a:br/>
            <a:r>
              <a:t>• Post-Hoc Illusions: SHAP/LIME heatmap attributions fluctuate wildly and lack physical causal validity.</a:t>
            </a:r>
            <a:endParaRPr lang="en-US" sz="1250" dirty="0"/>
          </a:p>
        </p:txBody>
      </p:sp>
      <p:sp>
        <p:nvSpPr>
          <p:cNvPr id="12" name="Shape 9"/>
          <p:cNvSpPr/>
          <p:nvPr/>
        </p:nvSpPr>
        <p:spPr>
          <a:xfrm>
            <a:off x="6035040" y="1874520"/>
            <a:ext cx="5120640" cy="3566160"/>
          </a:xfrm>
          <a:prstGeom prst="roundRect">
            <a:avLst>
              <a:gd name="adj" fmla="val 2308"/>
            </a:avLst>
          </a:prstGeom>
          <a:solidFill>
            <a:srgbClr val="242A52"/>
          </a:solidFill>
          <a:ln w="15875">
            <a:solidFill>
              <a:srgbClr val="22D3EE"/>
            </a:solidFill>
            <a:prstDash val="solid"/>
          </a:ln>
          <a:effectLst>
            <a:outerShdw blurRad="127000" dist="38100" dir="5400000" algn="bl" rotWithShape="0">
              <a:srgbClr val="000000">
                <a:alpha val="30000"/>
              </a:srgbClr>
            </a:outerShdw>
          </a:effectLst>
        </p:spPr>
        <p:txBody>
          <a:bodyPr/>
          <a:lstStyle/>
          <a:p>
            <a:endParaRPr lang="en-IN"/>
          </a:p>
        </p:txBody>
      </p:sp>
      <p:sp>
        <p:nvSpPr>
          <p:cNvPr id="13" name="Text 10"/>
          <p:cNvSpPr/>
          <p:nvPr/>
        </p:nvSpPr>
        <p:spPr>
          <a:xfrm>
            <a:off x="6263640" y="2057400"/>
            <a:ext cx="4663440" cy="274320"/>
          </a:xfrm>
          <a:prstGeom prst="rect">
            <a:avLst/>
          </a:prstGeom>
          <a:noFill/>
          <a:ln/>
        </p:spPr>
        <p:txBody>
          <a:bodyPr wrap="square" lIns="0" tIns="0" rIns="0" bIns="0" rtlCol="0" anchor="ctr"/>
          <a:lstStyle/>
          <a:p>
            <a:pPr marL="0" indent="0">
              <a:buNone/>
            </a:pPr>
            <a:r>
              <a:rPr lang="en-US" sz="1150" b="1" kern="0" spc="100" dirty="0">
                <a:solidFill>
                  <a:srgbClr val="22D3EE"/>
                </a:solidFill>
                <a:latin typeface="Calibri" pitchFamily="34" charset="0"/>
                <a:ea typeface="Calibri" pitchFamily="34" charset="-122"/>
                <a:cs typeface="Calibri" pitchFamily="34" charset="-120"/>
              </a:rPr>
              <a:t>YOUR APPROACH</a:t>
            </a:r>
            <a:endParaRPr lang="en-US" sz="1150" dirty="0"/>
          </a:p>
        </p:txBody>
      </p:sp>
      <p:sp>
        <p:nvSpPr>
          <p:cNvPr id="14" name="Text 11"/>
          <p:cNvSpPr/>
          <p:nvPr/>
        </p:nvSpPr>
        <p:spPr>
          <a:xfrm>
            <a:off x="6263640" y="2423160"/>
            <a:ext cx="4663440" cy="2743200"/>
          </a:xfrm>
          <a:prstGeom prst="rect">
            <a:avLst/>
          </a:prstGeom>
          <a:noFill/>
          <a:ln/>
        </p:spPr>
        <p:txBody>
          <a:bodyPr wrap="square" lIns="0" tIns="0" rIns="0" bIns="0" rtlCol="0" anchor="t"/>
          <a:lstStyle/>
          <a:p>
            <a:pPr marL="0" indent="0">
              <a:lnSpc>
                <a:spcPct val="120000"/>
              </a:lnSpc>
              <a:buNone/>
              <a:defRPr sz="1100"/>
            </a:pPr>
            <a:r>
              <a:t>1. Unified Neuro-Symbolic Grammar: 1 shared representation (discrete tokens + HSMM state posterior) powers all 4 tasks; cuts model size to &lt;1.4 MB and edge compute TCO by 70%.</a:t>
            </a:r>
            <a:br/>
            <a:r>
              <a:t>2. Explicit-Duration Degradation Physics: Non-parametric duration distributions p_m(d) model true cumulative wear; beats deep CNN/LSTM baselines by 15.9+ RMSE.</a:t>
            </a:r>
            <a:br/>
            <a:r>
              <a:t>3. Rigorous LOEO Conformal Uncertainty: Engine-level 90% prediction intervals guarantee a safe lower bound for scheduled shutdowns with 92% verified empirical coverage.</a:t>
            </a:r>
            <a:br/>
            <a:r>
              <a:t>4. Intrinsic Explanations &amp; Counterfactuals: Deterministic root-cause objects with verified faithfulness (score drops 0.18–0.72) + counterfactual dwell-reset simulation.</a:t>
            </a:r>
            <a:endParaRPr lang="en-US" sz="1250" dirty="0"/>
          </a:p>
        </p:txBody>
      </p:sp>
      <p:sp>
        <p:nvSpPr>
          <p:cNvPr id="15" name="Text 12"/>
          <p:cNvSpPr/>
          <p:nvPr/>
        </p:nvSpPr>
        <p:spPr>
          <a:xfrm>
            <a:off x="548640" y="6537960"/>
            <a:ext cx="5486400" cy="274320"/>
          </a:xfrm>
          <a:prstGeom prst="rect">
            <a:avLst/>
          </a:prstGeom>
          <a:noFill/>
          <a:ln/>
        </p:spPr>
        <p:txBody>
          <a:bodyPr wrap="square" lIns="0" tIns="0" rIns="0" bIns="0" rtlCol="0" anchor="ctr"/>
          <a:lstStyle/>
          <a:p>
            <a:pPr marL="0" indent="0">
              <a:buNone/>
            </a:pPr>
            <a:r>
              <a:rPr lang="en-US" sz="900" dirty="0">
                <a:solidFill>
                  <a:srgbClr val="94A3B8"/>
                </a:solidFill>
                <a:latin typeface="Calibri" pitchFamily="34" charset="0"/>
                <a:ea typeface="Calibri" pitchFamily="34" charset="-122"/>
                <a:cs typeface="Calibri" pitchFamily="34" charset="-120"/>
              </a:rPr>
              <a:t>PredictX  ·  Team Pitch Deck Template</a:t>
            </a:r>
            <a:endParaRPr lang="en-US" sz="900" dirty="0"/>
          </a:p>
        </p:txBody>
      </p:sp>
      <p:sp>
        <p:nvSpPr>
          <p:cNvPr id="16" name="Text 13"/>
          <p:cNvSpPr/>
          <p:nvPr/>
        </p:nvSpPr>
        <p:spPr>
          <a:xfrm>
            <a:off x="11521440" y="6537960"/>
            <a:ext cx="365760" cy="274320"/>
          </a:xfrm>
          <a:prstGeom prst="rect">
            <a:avLst/>
          </a:prstGeom>
          <a:noFill/>
          <a:ln/>
        </p:spPr>
        <p:txBody>
          <a:bodyPr wrap="square" lIns="0" tIns="0" rIns="0" bIns="0" rtlCol="0" anchor="ctr"/>
          <a:lstStyle/>
          <a:p>
            <a:pPr marL="0" indent="0" algn="r">
              <a:buNone/>
            </a:pPr>
            <a:r>
              <a:rPr lang="en-US" sz="900" dirty="0">
                <a:solidFill>
                  <a:srgbClr val="94A3B8"/>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7">
    <p:bg>
      <p:bgPr>
        <a:solidFill>
          <a:srgbClr val="1B1F3B"/>
        </a:solidFill>
        <a:effectLst/>
      </p:bgPr>
    </p:bg>
    <p:spTree>
      <p:nvGrpSpPr>
        <p:cNvPr id="1" name=""/>
        <p:cNvGrpSpPr/>
        <p:nvPr/>
      </p:nvGrpSpPr>
      <p:grpSpPr>
        <a:xfrm>
          <a:off x="0" y="0"/>
          <a:ext cx="0" cy="0"/>
          <a:chOff x="0" y="0"/>
          <a:chExt cx="0" cy="0"/>
        </a:xfrm>
      </p:grpSpPr>
      <p:sp>
        <p:nvSpPr>
          <p:cNvPr id="2" name="Shape 0"/>
          <p:cNvSpPr/>
          <p:nvPr/>
        </p:nvSpPr>
        <p:spPr>
          <a:xfrm>
            <a:off x="10241280" y="-1645920"/>
            <a:ext cx="4114800" cy="4114800"/>
          </a:xfrm>
          <a:prstGeom prst="ellipse">
            <a:avLst/>
          </a:prstGeom>
          <a:solidFill>
            <a:srgbClr val="3B82F6">
              <a:alpha val="12000"/>
            </a:srgbClr>
          </a:solidFill>
          <a:ln/>
        </p:spPr>
        <p:txBody>
          <a:bodyPr/>
          <a:lstStyle/>
          <a:p>
            <a:endParaRPr lang="en-IN"/>
          </a:p>
        </p:txBody>
      </p:sp>
      <p:sp>
        <p:nvSpPr>
          <p:cNvPr id="3" name="Shape 1"/>
          <p:cNvSpPr/>
          <p:nvPr/>
        </p:nvSpPr>
        <p:spPr>
          <a:xfrm>
            <a:off x="-1463040" y="4846320"/>
            <a:ext cx="3657600" cy="3657600"/>
          </a:xfrm>
          <a:prstGeom prst="ellipse">
            <a:avLst/>
          </a:prstGeom>
          <a:solidFill>
            <a:srgbClr val="22D3EE">
              <a:alpha val="10000"/>
            </a:srgbClr>
          </a:solidFill>
          <a:ln/>
        </p:spPr>
        <p:txBody>
          <a:bodyPr/>
          <a:lstStyle/>
          <a:p>
            <a:endParaRPr lang="en-IN"/>
          </a:p>
        </p:txBody>
      </p:sp>
      <p:sp>
        <p:nvSpPr>
          <p:cNvPr id="4" name="Text 2"/>
          <p:cNvSpPr/>
          <p:nvPr/>
        </p:nvSpPr>
        <p:spPr>
          <a:xfrm>
            <a:off x="640080" y="457200"/>
            <a:ext cx="10515600" cy="594360"/>
          </a:xfrm>
          <a:prstGeom prst="rect">
            <a:avLst/>
          </a:prstGeom>
          <a:noFill/>
          <a:ln/>
        </p:spPr>
        <p:txBody>
          <a:bodyPr wrap="square" lIns="0" tIns="0" rIns="0" bIns="0"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Prototype &amp; Demo</a:t>
            </a:r>
            <a:endParaRPr lang="en-US" sz="3000" dirty="0"/>
          </a:p>
        </p:txBody>
      </p:sp>
      <p:sp>
        <p:nvSpPr>
          <p:cNvPr id="5" name="Text 3"/>
          <p:cNvSpPr/>
          <p:nvPr/>
        </p:nvSpPr>
        <p:spPr>
          <a:xfrm>
            <a:off x="640080" y="1005840"/>
            <a:ext cx="10515600" cy="365760"/>
          </a:xfrm>
          <a:prstGeom prst="rect">
            <a:avLst/>
          </a:prstGeom>
          <a:noFill/>
          <a:ln/>
        </p:spPr>
        <p:txBody>
          <a:bodyPr wrap="square" lIns="0" tIns="0" rIns="0" bIns="0" rtlCol="0" anchor="ctr"/>
          <a:lstStyle/>
          <a:p>
            <a:pPr marL="0" indent="0">
              <a:buNone/>
            </a:pPr>
            <a:r>
              <a:rPr lang="en-US" sz="1350" i="1" dirty="0">
                <a:solidFill>
                  <a:srgbClr val="94A3B8"/>
                </a:solidFill>
                <a:latin typeface="Calibri" pitchFamily="34" charset="0"/>
                <a:ea typeface="Calibri" pitchFamily="34" charset="-122"/>
                <a:cs typeface="Calibri" pitchFamily="34" charset="-120"/>
              </a:rPr>
              <a:t>Show, don't just tell — this is your proof of feasibility</a:t>
            </a:r>
            <a:endParaRPr lang="en-US" sz="1350" dirty="0"/>
          </a:p>
        </p:txBody>
      </p:sp>
      <p:sp>
        <p:nvSpPr>
          <p:cNvPr id="6" name="Shape 4"/>
          <p:cNvSpPr/>
          <p:nvPr/>
        </p:nvSpPr>
        <p:spPr>
          <a:xfrm>
            <a:off x="8732520" y="502920"/>
            <a:ext cx="2331720" cy="384048"/>
          </a:xfrm>
          <a:prstGeom prst="roundRect">
            <a:avLst>
              <a:gd name="adj" fmla="val 50000"/>
            </a:avLst>
          </a:prstGeom>
          <a:solidFill>
            <a:srgbClr val="22D3EE">
              <a:alpha val="15000"/>
            </a:srgbClr>
          </a:solidFill>
          <a:ln w="12700">
            <a:solidFill>
              <a:srgbClr val="22D3EE"/>
            </a:solidFill>
            <a:prstDash val="solid"/>
          </a:ln>
        </p:spPr>
        <p:txBody>
          <a:bodyPr/>
          <a:lstStyle/>
          <a:p>
            <a:endParaRPr lang="en-IN"/>
          </a:p>
        </p:txBody>
      </p:sp>
      <p:sp>
        <p:nvSpPr>
          <p:cNvPr id="7" name="Text 5"/>
          <p:cNvSpPr/>
          <p:nvPr/>
        </p:nvSpPr>
        <p:spPr>
          <a:xfrm>
            <a:off x="8732520" y="502920"/>
            <a:ext cx="2331720" cy="384048"/>
          </a:xfrm>
          <a:prstGeom prst="rect">
            <a:avLst/>
          </a:prstGeom>
          <a:noFill/>
          <a:ln/>
        </p:spPr>
        <p:txBody>
          <a:bodyPr wrap="square" lIns="0" tIns="0" rIns="0" bIns="0" rtlCol="0" anchor="ctr"/>
          <a:lstStyle/>
          <a:p>
            <a:pPr marL="0" indent="0" algn="ctr">
              <a:buNone/>
            </a:pPr>
            <a:r>
              <a:rPr lang="en-US" sz="1050" b="1" kern="0" spc="50" dirty="0">
                <a:solidFill>
                  <a:srgbClr val="22D3EE"/>
                </a:solidFill>
                <a:latin typeface="Calibri" pitchFamily="34" charset="0"/>
                <a:ea typeface="Calibri" pitchFamily="34" charset="-122"/>
                <a:cs typeface="Calibri" pitchFamily="34" charset="-120"/>
              </a:rPr>
              <a:t>PRESENTATION &amp; PROTOTYPE · 20%</a:t>
            </a:r>
            <a:endParaRPr lang="en-US" sz="1050" dirty="0"/>
          </a:p>
        </p:txBody>
      </p:sp>
      <p:pic>
        <p:nvPicPr>
          <p:cNvPr id="8" name="Image 0" descr="icons/play_cyan.png"/>
          <p:cNvPicPr>
            <a:picLocks noChangeAspect="1"/>
          </p:cNvPicPr>
          <p:nvPr/>
        </p:nvPicPr>
        <p:blipFill>
          <a:blip r:embed="rId3"/>
          <a:stretch>
            <a:fillRect/>
          </a:stretch>
        </p:blipFill>
        <p:spPr>
          <a:xfrm>
            <a:off x="9829800" y="1005840"/>
            <a:ext cx="1371600" cy="1371600"/>
          </a:xfrm>
          <a:prstGeom prst="rect">
            <a:avLst/>
          </a:prstGeom>
        </p:spPr>
      </p:pic>
      <p:sp>
        <p:nvSpPr>
          <p:cNvPr id="9" name="Shape 6"/>
          <p:cNvSpPr/>
          <p:nvPr/>
        </p:nvSpPr>
        <p:spPr>
          <a:xfrm>
            <a:off x="640080" y="1828800"/>
            <a:ext cx="6949440" cy="4114800"/>
          </a:xfrm>
          <a:prstGeom prst="roundRect">
            <a:avLst>
              <a:gd name="adj" fmla="val 2222"/>
            </a:avLst>
          </a:prstGeom>
          <a:solidFill>
            <a:srgbClr val="2C3260"/>
          </a:solidFill>
          <a:ln w="12700">
            <a:solidFill>
              <a:srgbClr val="94A3B8"/>
            </a:solidFill>
            <a:prstDash val="dash"/>
          </a:ln>
        </p:spPr>
        <p:txBody>
          <a:bodyPr/>
          <a:lstStyle/>
          <a:p>
            <a:endParaRPr lang="en-IN"/>
          </a:p>
        </p:txBody>
      </p:sp>
      <p:sp>
        <p:nvSpPr>
          <p:cNvPr id="11" name="Text 7"/>
          <p:cNvSpPr/>
          <p:nvPr/>
        </p:nvSpPr>
        <p:spPr>
          <a:xfrm>
            <a:off x="1005840" y="4572000"/>
            <a:ext cx="6309360" cy="1097280"/>
          </a:xfrm>
          <a:prstGeom prst="rect">
            <a:avLst/>
          </a:prstGeom>
          <a:noFill/>
          <a:ln/>
        </p:spPr>
        <p:txBody>
          <a:bodyPr wrap="square" lIns="0" tIns="0" rIns="0" bIns="0" rtlCol="0" anchor="t"/>
          <a:lstStyle/>
          <a:p>
            <a:pPr marL="0" indent="0" algn="ctr">
              <a:lnSpc>
                <a:spcPct val="120000"/>
              </a:lnSpc>
              <a:buNone/>
            </a:pPr>
            <a:endParaRPr lang="en-US" sz="1250" dirty="0"/>
          </a:p>
        </p:txBody>
      </p:sp>
      <p:sp>
        <p:nvSpPr>
          <p:cNvPr id="12" name="Shape 8"/>
          <p:cNvSpPr/>
          <p:nvPr/>
        </p:nvSpPr>
        <p:spPr>
          <a:xfrm>
            <a:off x="7818120" y="1828800"/>
            <a:ext cx="3703320" cy="4114800"/>
          </a:xfrm>
          <a:prstGeom prst="roundRect">
            <a:avLst>
              <a:gd name="adj" fmla="val 2469"/>
            </a:avLst>
          </a:prstGeom>
          <a:solidFill>
            <a:srgbClr val="242A52"/>
          </a:solidFill>
          <a:ln/>
        </p:spPr>
        <p:txBody>
          <a:bodyPr/>
          <a:lstStyle/>
          <a:p>
            <a:endParaRPr lang="en-IN"/>
          </a:p>
        </p:txBody>
      </p:sp>
      <p:sp>
        <p:nvSpPr>
          <p:cNvPr id="13" name="Text 9"/>
          <p:cNvSpPr/>
          <p:nvPr/>
        </p:nvSpPr>
        <p:spPr>
          <a:xfrm>
            <a:off x="8046720" y="2011680"/>
            <a:ext cx="3246120" cy="274320"/>
          </a:xfrm>
          <a:prstGeom prst="rect">
            <a:avLst/>
          </a:prstGeom>
          <a:noFill/>
          <a:ln/>
        </p:spPr>
        <p:txBody>
          <a:bodyPr wrap="square" lIns="0" tIns="0" rIns="0" bIns="0" rtlCol="0" anchor="ctr"/>
          <a:lstStyle/>
          <a:p>
            <a:pPr marL="0" indent="0">
              <a:buNone/>
            </a:pPr>
            <a:r>
              <a:rPr lang="en-US" sz="1100" b="1" kern="0" spc="100" dirty="0">
                <a:solidFill>
                  <a:srgbClr val="22D3EE"/>
                </a:solidFill>
                <a:latin typeface="Calibri" pitchFamily="34" charset="0"/>
                <a:ea typeface="Calibri" pitchFamily="34" charset="-122"/>
                <a:cs typeface="Calibri" pitchFamily="34" charset="-120"/>
              </a:rPr>
              <a:t>DEMO NOTES</a:t>
            </a:r>
            <a:endParaRPr lang="en-US" sz="1100" dirty="0"/>
          </a:p>
        </p:txBody>
      </p:sp>
      <p:sp>
        <p:nvSpPr>
          <p:cNvPr id="14" name="Shape 10"/>
          <p:cNvSpPr/>
          <p:nvPr/>
        </p:nvSpPr>
        <p:spPr>
          <a:xfrm>
            <a:off x="8092440" y="2478024"/>
            <a:ext cx="91440" cy="91440"/>
          </a:xfrm>
          <a:prstGeom prst="ellipse">
            <a:avLst/>
          </a:prstGeom>
          <a:solidFill>
            <a:srgbClr val="22D3EE"/>
          </a:solidFill>
          <a:ln/>
        </p:spPr>
        <p:txBody>
          <a:bodyPr/>
          <a:lstStyle/>
          <a:p>
            <a:endParaRPr lang="en-IN"/>
          </a:p>
        </p:txBody>
      </p:sp>
      <p:sp>
        <p:nvSpPr>
          <p:cNvPr id="15" name="Text 11"/>
          <p:cNvSpPr/>
          <p:nvPr/>
        </p:nvSpPr>
        <p:spPr>
          <a:xfrm>
            <a:off x="8275320" y="2359152"/>
            <a:ext cx="3108960" cy="640080"/>
          </a:xfrm>
          <a:prstGeom prst="rect">
            <a:avLst/>
          </a:prstGeom>
          <a:noFill/>
          <a:ln/>
        </p:spPr>
        <p:txBody>
          <a:bodyPr wrap="square" lIns="0" tIns="0" rIns="0" bIns="0" rtlCol="0" anchor="t"/>
          <a:lstStyle/>
          <a:p>
            <a:pPr marL="0" indent="0">
              <a:lnSpc>
                <a:spcPct val="115000"/>
              </a:lnSpc>
              <a:buNone/>
              <a:defRPr sz="1000"/>
            </a:pPr>
            <a:r>
              <a:t>Stage: Working Production Prototype</a:t>
            </a:r>
            <a:br/>
            <a:r>
              <a:t>Complete modular Python engine with 260/260 automated tests passing in CI. Strict zero-leakage causal execution verified across all preprocessing and decoders.</a:t>
            </a:r>
            <a:endParaRPr lang="en-US" sz="1200" dirty="0"/>
          </a:p>
        </p:txBody>
      </p:sp>
      <p:sp>
        <p:nvSpPr>
          <p:cNvPr id="16" name="Shape 12"/>
          <p:cNvSpPr/>
          <p:nvPr/>
        </p:nvSpPr>
        <p:spPr>
          <a:xfrm>
            <a:off x="8092440" y="3346704"/>
            <a:ext cx="91440" cy="91440"/>
          </a:xfrm>
          <a:prstGeom prst="ellipse">
            <a:avLst/>
          </a:prstGeom>
          <a:solidFill>
            <a:srgbClr val="22D3EE"/>
          </a:solidFill>
          <a:ln/>
        </p:spPr>
        <p:txBody>
          <a:bodyPr/>
          <a:lstStyle/>
          <a:p>
            <a:endParaRPr lang="en-IN"/>
          </a:p>
        </p:txBody>
      </p:sp>
      <p:sp>
        <p:nvSpPr>
          <p:cNvPr id="17" name="Text 13"/>
          <p:cNvSpPr/>
          <p:nvPr/>
        </p:nvSpPr>
        <p:spPr>
          <a:xfrm>
            <a:off x="8275320" y="3227832"/>
            <a:ext cx="3108960" cy="640080"/>
          </a:xfrm>
          <a:prstGeom prst="rect">
            <a:avLst/>
          </a:prstGeom>
          <a:noFill/>
          <a:ln/>
        </p:spPr>
        <p:txBody>
          <a:bodyPr wrap="square" lIns="0" tIns="0" rIns="0" bIns="0" rtlCol="0" anchor="t"/>
          <a:lstStyle/>
          <a:p>
            <a:pPr marL="0" indent="0">
              <a:lnSpc>
                <a:spcPct val="115000"/>
              </a:lnSpc>
              <a:buNone/>
              <a:defRPr sz="1000"/>
            </a:pPr>
            <a:r>
              <a:t>Live Capabilities (CLI &amp; Python API):</a:t>
            </a:r>
            <a:br/>
            <a:r>
              <a:t>Runs real-time sub-15ms edge inference: streams raw sensor telemetry, discovers discrete tokens (K=16), infers HSMM state dwell, generates 4 unified outputs with 90% conformal intervals, and runs interactive counterfactual what-if simulations via `scripts/demo_predictx.py`.</a:t>
            </a:r>
            <a:endParaRPr lang="en-US" sz="1200" dirty="0"/>
          </a:p>
        </p:txBody>
      </p:sp>
      <p:sp>
        <p:nvSpPr>
          <p:cNvPr id="18" name="Shape 14"/>
          <p:cNvSpPr/>
          <p:nvPr/>
        </p:nvSpPr>
        <p:spPr>
          <a:xfrm>
            <a:off x="8092440" y="4215384"/>
            <a:ext cx="91440" cy="91440"/>
          </a:xfrm>
          <a:prstGeom prst="ellipse">
            <a:avLst/>
          </a:prstGeom>
          <a:solidFill>
            <a:srgbClr val="22D3EE"/>
          </a:solidFill>
          <a:ln/>
        </p:spPr>
        <p:txBody>
          <a:bodyPr/>
          <a:lstStyle/>
          <a:p>
            <a:endParaRPr lang="en-IN"/>
          </a:p>
        </p:txBody>
      </p:sp>
      <p:sp>
        <p:nvSpPr>
          <p:cNvPr id="19" name="Text 15"/>
          <p:cNvSpPr/>
          <p:nvPr/>
        </p:nvSpPr>
        <p:spPr>
          <a:xfrm>
            <a:off x="8275320" y="4096512"/>
            <a:ext cx="3108960" cy="640080"/>
          </a:xfrm>
          <a:prstGeom prst="rect">
            <a:avLst/>
          </a:prstGeom>
          <a:noFill/>
          <a:ln/>
        </p:spPr>
        <p:txBody>
          <a:bodyPr wrap="square" lIns="0" tIns="0" rIns="0" bIns="0" rtlCol="0" anchor="t"/>
          <a:lstStyle/>
          <a:p>
            <a:pPr marL="0" indent="0">
              <a:lnSpc>
                <a:spcPct val="115000"/>
              </a:lnSpc>
              <a:buNone/>
              <a:defRPr sz="1000"/>
            </a:pPr>
            <a:r>
              <a:t>Next Version Roadmap:</a:t>
            </a:r>
            <a:br/>
            <a:r>
              <a:t>Industrial late-fusion deployment (continuous acoustic features + discrete grammar explanations), C++ runtime optimization on ARM Cortex-A, and Modbus TCP / IEC 61850 streaming connectors for Schneider EcoStruxure Asset Advisor.</a:t>
            </a:r>
            <a:endParaRPr lang="en-US" sz="1200" dirty="0"/>
          </a:p>
        </p:txBody>
      </p:sp>
      <p:sp>
        <p:nvSpPr>
          <p:cNvPr id="20" name="Text 16"/>
          <p:cNvSpPr/>
          <p:nvPr/>
        </p:nvSpPr>
        <p:spPr>
          <a:xfrm>
            <a:off x="548640" y="6537960"/>
            <a:ext cx="5486400" cy="274320"/>
          </a:xfrm>
          <a:prstGeom prst="rect">
            <a:avLst/>
          </a:prstGeom>
          <a:noFill/>
          <a:ln/>
        </p:spPr>
        <p:txBody>
          <a:bodyPr wrap="square" lIns="0" tIns="0" rIns="0" bIns="0" rtlCol="0" anchor="ctr"/>
          <a:lstStyle/>
          <a:p>
            <a:pPr marL="0" indent="0">
              <a:buNone/>
            </a:pPr>
            <a:r>
              <a:rPr lang="en-US" sz="900" dirty="0">
                <a:solidFill>
                  <a:srgbClr val="94A3B8"/>
                </a:solidFill>
                <a:latin typeface="Calibri" pitchFamily="34" charset="0"/>
                <a:ea typeface="Calibri" pitchFamily="34" charset="-122"/>
                <a:cs typeface="Calibri" pitchFamily="34" charset="-120"/>
              </a:rPr>
              <a:t>PredictX  ·  Team Pitch Deck Template</a:t>
            </a:r>
            <a:endParaRPr lang="en-US" sz="900" dirty="0"/>
          </a:p>
        </p:txBody>
      </p:sp>
      <p:sp>
        <p:nvSpPr>
          <p:cNvPr id="21" name="Text 17"/>
          <p:cNvSpPr/>
          <p:nvPr/>
        </p:nvSpPr>
        <p:spPr>
          <a:xfrm>
            <a:off x="11521440" y="6537960"/>
            <a:ext cx="365760" cy="274320"/>
          </a:xfrm>
          <a:prstGeom prst="rect">
            <a:avLst/>
          </a:prstGeom>
          <a:noFill/>
          <a:ln/>
        </p:spPr>
        <p:txBody>
          <a:bodyPr wrap="square" lIns="0" tIns="0" rIns="0" bIns="0" rtlCol="0" anchor="ctr"/>
          <a:lstStyle/>
          <a:p>
            <a:pPr marL="0" indent="0" algn="r">
              <a:buNone/>
            </a:pPr>
            <a:r>
              <a:rPr lang="en-US" sz="900" dirty="0">
                <a:solidFill>
                  <a:srgbClr val="94A3B8"/>
                </a:solidFill>
                <a:latin typeface="Calibri" pitchFamily="34" charset="0"/>
                <a:ea typeface="Calibri" pitchFamily="34" charset="-122"/>
                <a:cs typeface="Calibri" pitchFamily="34" charset="-120"/>
              </a:rPr>
              <a:t>7</a:t>
            </a:r>
            <a:endParaRPr lang="en-US" sz="900" dirty="0"/>
          </a:p>
        </p:txBody>
      </p:sp>
      <p:pic>
        <p:nvPicPr>
          <p:cNvPr id="22" name="Picture 21" descr="DS01_u2_trajectory.png"/>
          <p:cNvPicPr>
            <a:picLocks noChangeAspect="1"/>
          </p:cNvPicPr>
          <p:nvPr/>
        </p:nvPicPr>
        <p:blipFill>
          <a:blip r:embed="rId5"/>
          <a:stretch>
            <a:fillRect/>
          </a:stretch>
        </p:blipFill>
        <p:spPr>
          <a:xfrm>
            <a:off x="685800" y="1783080"/>
            <a:ext cx="6309360" cy="3749039"/>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9">
    <p:bg>
      <p:bgPr>
        <a:solidFill>
          <a:srgbClr val="1B1F3B"/>
        </a:solidFill>
        <a:effectLst/>
      </p:bgPr>
    </p:bg>
    <p:spTree>
      <p:nvGrpSpPr>
        <p:cNvPr id="1" name=""/>
        <p:cNvGrpSpPr/>
        <p:nvPr/>
      </p:nvGrpSpPr>
      <p:grpSpPr>
        <a:xfrm>
          <a:off x="0" y="0"/>
          <a:ext cx="0" cy="0"/>
          <a:chOff x="0" y="0"/>
          <a:chExt cx="0" cy="0"/>
        </a:xfrm>
      </p:grpSpPr>
      <p:sp>
        <p:nvSpPr>
          <p:cNvPr id="2" name="Shape 0"/>
          <p:cNvSpPr/>
          <p:nvPr/>
        </p:nvSpPr>
        <p:spPr>
          <a:xfrm>
            <a:off x="10241280" y="-1645920"/>
            <a:ext cx="4114800" cy="4114800"/>
          </a:xfrm>
          <a:prstGeom prst="ellipse">
            <a:avLst/>
          </a:prstGeom>
          <a:solidFill>
            <a:srgbClr val="3B82F6">
              <a:alpha val="12000"/>
            </a:srgbClr>
          </a:solidFill>
          <a:ln/>
        </p:spPr>
        <p:txBody>
          <a:bodyPr/>
          <a:lstStyle/>
          <a:p>
            <a:endParaRPr lang="en-IN"/>
          </a:p>
        </p:txBody>
      </p:sp>
      <p:sp>
        <p:nvSpPr>
          <p:cNvPr id="3" name="Shape 1"/>
          <p:cNvSpPr/>
          <p:nvPr/>
        </p:nvSpPr>
        <p:spPr>
          <a:xfrm>
            <a:off x="-1463040" y="4846320"/>
            <a:ext cx="3657600" cy="3657600"/>
          </a:xfrm>
          <a:prstGeom prst="ellipse">
            <a:avLst/>
          </a:prstGeom>
          <a:solidFill>
            <a:srgbClr val="22D3EE">
              <a:alpha val="10000"/>
            </a:srgbClr>
          </a:solidFill>
          <a:ln/>
        </p:spPr>
        <p:txBody>
          <a:bodyPr/>
          <a:lstStyle/>
          <a:p>
            <a:endParaRPr lang="en-IN"/>
          </a:p>
        </p:txBody>
      </p:sp>
      <p:sp>
        <p:nvSpPr>
          <p:cNvPr id="4" name="Text 2"/>
          <p:cNvSpPr/>
          <p:nvPr/>
        </p:nvSpPr>
        <p:spPr>
          <a:xfrm>
            <a:off x="640080" y="457200"/>
            <a:ext cx="10515600" cy="594360"/>
          </a:xfrm>
          <a:prstGeom prst="rect">
            <a:avLst/>
          </a:prstGeom>
          <a:noFill/>
          <a:ln/>
        </p:spPr>
        <p:txBody>
          <a:bodyPr wrap="square" lIns="0" tIns="0" rIns="0" bIns="0"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Meet the Team</a:t>
            </a:r>
            <a:endParaRPr lang="en-US" sz="3000" dirty="0"/>
          </a:p>
        </p:txBody>
      </p:sp>
      <p:sp>
        <p:nvSpPr>
          <p:cNvPr id="5" name="Text 3"/>
          <p:cNvSpPr/>
          <p:nvPr/>
        </p:nvSpPr>
        <p:spPr>
          <a:xfrm>
            <a:off x="640080" y="1005840"/>
            <a:ext cx="10515600" cy="365760"/>
          </a:xfrm>
          <a:prstGeom prst="rect">
            <a:avLst/>
          </a:prstGeom>
          <a:noFill/>
          <a:ln/>
        </p:spPr>
        <p:txBody>
          <a:bodyPr wrap="square" lIns="0" tIns="0" rIns="0" bIns="0" rtlCol="0" anchor="ctr"/>
          <a:lstStyle/>
          <a:p>
            <a:pPr marL="0" indent="0">
              <a:buNone/>
            </a:pPr>
            <a:r>
              <a:rPr lang="en-US" sz="1350" i="1" dirty="0">
                <a:solidFill>
                  <a:srgbClr val="94A3B8"/>
                </a:solidFill>
                <a:latin typeface="Calibri" pitchFamily="34" charset="0"/>
                <a:ea typeface="Calibri" pitchFamily="34" charset="-122"/>
                <a:cs typeface="Calibri" pitchFamily="34" charset="-120"/>
              </a:rPr>
              <a:t>Cross-disciplinary skills behind the idea</a:t>
            </a:r>
            <a:endParaRPr lang="en-US" sz="1350" dirty="0"/>
          </a:p>
        </p:txBody>
      </p:sp>
      <p:pic>
        <p:nvPicPr>
          <p:cNvPr id="6" name="Image 0" descr="icons/users_cyan.png"/>
          <p:cNvPicPr>
            <a:picLocks noChangeAspect="1"/>
          </p:cNvPicPr>
          <p:nvPr/>
        </p:nvPicPr>
        <p:blipFill>
          <a:blip r:embed="rId3"/>
          <a:stretch>
            <a:fillRect/>
          </a:stretch>
        </p:blipFill>
        <p:spPr>
          <a:xfrm>
            <a:off x="9784080" y="457200"/>
            <a:ext cx="1737360" cy="1737360"/>
          </a:xfrm>
          <a:prstGeom prst="rect">
            <a:avLst/>
          </a:prstGeom>
        </p:spPr>
      </p:pic>
      <p:sp>
        <p:nvSpPr>
          <p:cNvPr id="7" name="Shape 4"/>
          <p:cNvSpPr/>
          <p:nvPr/>
        </p:nvSpPr>
        <p:spPr>
          <a:xfrm>
            <a:off x="640080" y="1874520"/>
            <a:ext cx="2514600" cy="3291840"/>
          </a:xfrm>
          <a:prstGeom prst="roundRect">
            <a:avLst>
              <a:gd name="adj" fmla="val 3273"/>
            </a:avLst>
          </a:prstGeom>
          <a:solidFill>
            <a:srgbClr val="242A52"/>
          </a:solidFill>
          <a:ln/>
          <a:effectLst>
            <a:outerShdw blurRad="127000" dist="38100" dir="5400000" algn="bl" rotWithShape="0">
              <a:srgbClr val="000000">
                <a:alpha val="30000"/>
              </a:srgbClr>
            </a:outerShdw>
          </a:effectLst>
        </p:spPr>
        <p:txBody>
          <a:bodyPr/>
          <a:lstStyle/>
          <a:p>
            <a:endParaRPr lang="en-IN"/>
          </a:p>
        </p:txBody>
      </p:sp>
      <p:sp>
        <p:nvSpPr>
          <p:cNvPr id="8" name="Shape 5"/>
          <p:cNvSpPr/>
          <p:nvPr/>
        </p:nvSpPr>
        <p:spPr>
          <a:xfrm>
            <a:off x="1440180" y="2194560"/>
            <a:ext cx="914400" cy="914400"/>
          </a:xfrm>
          <a:prstGeom prst="ellipse">
            <a:avLst/>
          </a:prstGeom>
          <a:solidFill>
            <a:srgbClr val="2C3260"/>
          </a:solidFill>
          <a:ln w="19050">
            <a:solidFill>
              <a:srgbClr val="3B82F6"/>
            </a:solidFill>
            <a:prstDash val="solid"/>
          </a:ln>
        </p:spPr>
        <p:txBody>
          <a:bodyPr/>
          <a:lstStyle/>
          <a:p>
            <a:endParaRPr lang="en-IN"/>
          </a:p>
        </p:txBody>
      </p:sp>
      <p:pic>
        <p:nvPicPr>
          <p:cNvPr id="9" name="Image 1" descr="icons/users_muted.png"/>
          <p:cNvPicPr>
            <a:picLocks noChangeAspect="1"/>
          </p:cNvPicPr>
          <p:nvPr/>
        </p:nvPicPr>
        <p:blipFill>
          <a:blip r:embed="rId4"/>
          <a:stretch>
            <a:fillRect/>
          </a:stretch>
        </p:blipFill>
        <p:spPr>
          <a:xfrm>
            <a:off x="1623060" y="2377440"/>
            <a:ext cx="548640" cy="548640"/>
          </a:xfrm>
          <a:prstGeom prst="rect">
            <a:avLst/>
          </a:prstGeom>
        </p:spPr>
      </p:pic>
      <p:sp>
        <p:nvSpPr>
          <p:cNvPr id="10" name="Text 6"/>
          <p:cNvSpPr/>
          <p:nvPr/>
        </p:nvSpPr>
        <p:spPr>
          <a:xfrm>
            <a:off x="777240" y="3291840"/>
            <a:ext cx="2240280" cy="320040"/>
          </a:xfrm>
          <a:prstGeom prst="rect">
            <a:avLst/>
          </a:prstGeom>
          <a:noFill/>
          <a:ln/>
        </p:spPr>
        <p:txBody>
          <a:bodyPr wrap="square" lIns="0" tIns="0" rIns="0" bIns="0" rtlCol="0" anchor="ctr"/>
          <a:lstStyle/>
          <a:p>
            <a:pPr marL="0" indent="0" algn="ctr">
              <a:buNone/>
              <a:defRPr sz="1300" b="1"/>
            </a:pPr>
            <a:r>
              <a:t>Atharva Mendhulkar</a:t>
            </a:r>
            <a:endParaRPr lang="en-US" sz="1300" dirty="0"/>
          </a:p>
        </p:txBody>
      </p:sp>
      <p:sp>
        <p:nvSpPr>
          <p:cNvPr id="11" name="Text 7"/>
          <p:cNvSpPr/>
          <p:nvPr/>
        </p:nvSpPr>
        <p:spPr>
          <a:xfrm>
            <a:off x="777240" y="3611880"/>
            <a:ext cx="2240280" cy="274320"/>
          </a:xfrm>
          <a:prstGeom prst="rect">
            <a:avLst/>
          </a:prstGeom>
          <a:noFill/>
          <a:ln/>
        </p:spPr>
        <p:txBody>
          <a:bodyPr wrap="square" lIns="0" tIns="0" rIns="0" bIns="0" rtlCol="0" anchor="ctr"/>
          <a:lstStyle/>
          <a:p>
            <a:pPr marL="0" indent="0" algn="ctr">
              <a:buNone/>
              <a:defRPr sz="1000" b="0"/>
            </a:pPr>
            <a:r>
              <a:t>Computer Science &amp; Engineering</a:t>
            </a:r>
            <a:endParaRPr lang="en-US" sz="1100" dirty="0"/>
          </a:p>
        </p:txBody>
      </p:sp>
      <p:sp>
        <p:nvSpPr>
          <p:cNvPr id="12" name="Text 8"/>
          <p:cNvSpPr/>
          <p:nvPr/>
        </p:nvSpPr>
        <p:spPr>
          <a:xfrm>
            <a:off x="822960" y="3977640"/>
            <a:ext cx="2148840" cy="1051560"/>
          </a:xfrm>
          <a:prstGeom prst="rect">
            <a:avLst/>
          </a:prstGeom>
          <a:noFill/>
          <a:ln/>
        </p:spPr>
        <p:txBody>
          <a:bodyPr wrap="square" lIns="0" tIns="0" rIns="0" bIns="0" rtlCol="0" anchor="t"/>
          <a:lstStyle/>
          <a:p>
            <a:pPr marL="0" indent="0" algn="ctr">
              <a:lnSpc>
                <a:spcPct val="115000"/>
              </a:lnSpc>
              <a:buNone/>
              <a:defRPr sz="900" b="0"/>
            </a:pPr>
            <a:r>
              <a:t>Lead AI/ML Architect &amp; Backend — 1D Causal CNNs, Vector Quantizer (STE), Explicit-Duration HSMM Grammar, Automated Test Suite (260 tests), and Real-Time CLI Engine.</a:t>
            </a:r>
            <a:endParaRPr lang="en-US" sz="1050" dirty="0"/>
          </a:p>
        </p:txBody>
      </p:sp>
      <p:sp>
        <p:nvSpPr>
          <p:cNvPr id="13" name="Shape 9"/>
          <p:cNvSpPr/>
          <p:nvPr/>
        </p:nvSpPr>
        <p:spPr>
          <a:xfrm>
            <a:off x="3337560" y="1874520"/>
            <a:ext cx="2514600" cy="3291840"/>
          </a:xfrm>
          <a:prstGeom prst="roundRect">
            <a:avLst>
              <a:gd name="adj" fmla="val 3273"/>
            </a:avLst>
          </a:prstGeom>
          <a:solidFill>
            <a:srgbClr val="242A52"/>
          </a:solidFill>
          <a:ln/>
          <a:effectLst>
            <a:outerShdw blurRad="127000" dist="38100" dir="5400000" algn="bl" rotWithShape="0">
              <a:srgbClr val="000000">
                <a:alpha val="30000"/>
              </a:srgbClr>
            </a:outerShdw>
          </a:effectLst>
        </p:spPr>
        <p:txBody>
          <a:bodyPr/>
          <a:lstStyle/>
          <a:p>
            <a:endParaRPr lang="en-IN"/>
          </a:p>
        </p:txBody>
      </p:sp>
      <p:sp>
        <p:nvSpPr>
          <p:cNvPr id="14" name="Shape 10"/>
          <p:cNvSpPr/>
          <p:nvPr/>
        </p:nvSpPr>
        <p:spPr>
          <a:xfrm>
            <a:off x="4137660" y="2194560"/>
            <a:ext cx="914400" cy="914400"/>
          </a:xfrm>
          <a:prstGeom prst="ellipse">
            <a:avLst/>
          </a:prstGeom>
          <a:solidFill>
            <a:srgbClr val="2C3260"/>
          </a:solidFill>
          <a:ln w="19050">
            <a:solidFill>
              <a:srgbClr val="3B82F6"/>
            </a:solidFill>
            <a:prstDash val="solid"/>
          </a:ln>
        </p:spPr>
        <p:txBody>
          <a:bodyPr/>
          <a:lstStyle/>
          <a:p>
            <a:endParaRPr lang="en-IN"/>
          </a:p>
        </p:txBody>
      </p:sp>
      <p:pic>
        <p:nvPicPr>
          <p:cNvPr id="15" name="Image 2" descr="icons/users_muted.png"/>
          <p:cNvPicPr>
            <a:picLocks noChangeAspect="1"/>
          </p:cNvPicPr>
          <p:nvPr/>
        </p:nvPicPr>
        <p:blipFill>
          <a:blip r:embed="rId4"/>
          <a:stretch>
            <a:fillRect/>
          </a:stretch>
        </p:blipFill>
        <p:spPr>
          <a:xfrm>
            <a:off x="4320540" y="2377440"/>
            <a:ext cx="548640" cy="548640"/>
          </a:xfrm>
          <a:prstGeom prst="rect">
            <a:avLst/>
          </a:prstGeom>
        </p:spPr>
      </p:pic>
      <p:sp>
        <p:nvSpPr>
          <p:cNvPr id="16" name="Text 11"/>
          <p:cNvSpPr/>
          <p:nvPr/>
        </p:nvSpPr>
        <p:spPr>
          <a:xfrm>
            <a:off x="3474720" y="3291840"/>
            <a:ext cx="2240280" cy="320040"/>
          </a:xfrm>
          <a:prstGeom prst="rect">
            <a:avLst/>
          </a:prstGeom>
          <a:noFill/>
          <a:ln/>
        </p:spPr>
        <p:txBody>
          <a:bodyPr wrap="square" lIns="0" tIns="0" rIns="0" bIns="0" rtlCol="0" anchor="ctr"/>
          <a:lstStyle/>
          <a:p>
            <a:pPr marL="0" indent="0" algn="ctr">
              <a:buNone/>
              <a:defRPr sz="1300" b="1"/>
            </a:pPr>
            <a:r>
              <a:t>Divyansh Seth</a:t>
            </a:r>
            <a:endParaRPr lang="en-US" sz="1300" dirty="0"/>
          </a:p>
        </p:txBody>
      </p:sp>
      <p:sp>
        <p:nvSpPr>
          <p:cNvPr id="17" name="Text 12"/>
          <p:cNvSpPr/>
          <p:nvPr/>
        </p:nvSpPr>
        <p:spPr>
          <a:xfrm>
            <a:off x="3474720" y="3611880"/>
            <a:ext cx="2240280" cy="274320"/>
          </a:xfrm>
          <a:prstGeom prst="rect">
            <a:avLst/>
          </a:prstGeom>
          <a:noFill/>
          <a:ln/>
        </p:spPr>
        <p:txBody>
          <a:bodyPr wrap="square" lIns="0" tIns="0" rIns="0" bIns="0" rtlCol="0" anchor="ctr"/>
          <a:lstStyle/>
          <a:p>
            <a:pPr marL="0" indent="0" algn="ctr">
              <a:buNone/>
              <a:defRPr sz="1000" b="0"/>
            </a:pPr>
            <a:r>
              <a:t>Electrical &amp; Electronics Engineering</a:t>
            </a:r>
            <a:endParaRPr lang="en-US" sz="1100" dirty="0"/>
          </a:p>
        </p:txBody>
      </p:sp>
      <p:sp>
        <p:nvSpPr>
          <p:cNvPr id="18" name="Text 13"/>
          <p:cNvSpPr/>
          <p:nvPr/>
        </p:nvSpPr>
        <p:spPr>
          <a:xfrm>
            <a:off x="3520440" y="3977640"/>
            <a:ext cx="2148840" cy="1051560"/>
          </a:xfrm>
          <a:prstGeom prst="rect">
            <a:avLst/>
          </a:prstGeom>
          <a:noFill/>
          <a:ln/>
        </p:spPr>
        <p:txBody>
          <a:bodyPr wrap="square" lIns="0" tIns="0" rIns="0" bIns="0" rtlCol="0" anchor="t"/>
          <a:lstStyle/>
          <a:p>
            <a:pPr marL="0" indent="0" algn="ctr">
              <a:lnSpc>
                <a:spcPct val="115000"/>
              </a:lnSpc>
              <a:buNone/>
              <a:defRPr sz="900" b="0"/>
            </a:pPr>
            <a:r>
              <a:t>Power Systems &amp; Asset Domain Lead — Switchgear Degradation Physics (Contact Resistance, Partial Discharge, Arc-Flash Risk), Sensor Telemetry, Conformal Safety Bounds &amp; Business ROI Model.</a:t>
            </a:r>
            <a:endParaRPr lang="en-US" sz="1050" dirty="0"/>
          </a:p>
        </p:txBody>
      </p:sp>
      <p:sp>
        <p:nvSpPr>
          <p:cNvPr id="19" name="Shape 14"/>
          <p:cNvSpPr/>
          <p:nvPr/>
        </p:nvSpPr>
        <p:spPr>
          <a:xfrm>
            <a:off x="6035040" y="1874520"/>
            <a:ext cx="2514600" cy="3291840"/>
          </a:xfrm>
          <a:prstGeom prst="roundRect">
            <a:avLst>
              <a:gd name="adj" fmla="val 3273"/>
            </a:avLst>
          </a:prstGeom>
          <a:solidFill>
            <a:srgbClr val="242A52"/>
          </a:solidFill>
          <a:ln/>
          <a:effectLst>
            <a:outerShdw blurRad="127000" dist="38100" dir="5400000" algn="bl" rotWithShape="0">
              <a:srgbClr val="000000">
                <a:alpha val="30000"/>
              </a:srgbClr>
            </a:outerShdw>
          </a:effectLst>
        </p:spPr>
        <p:txBody>
          <a:bodyPr/>
          <a:lstStyle/>
          <a:p>
            <a:endParaRPr lang="en-IN"/>
          </a:p>
        </p:txBody>
      </p:sp>
      <p:sp>
        <p:nvSpPr>
          <p:cNvPr id="20" name="Shape 15"/>
          <p:cNvSpPr/>
          <p:nvPr/>
        </p:nvSpPr>
        <p:spPr>
          <a:xfrm>
            <a:off x="6835140" y="2194560"/>
            <a:ext cx="914400" cy="914400"/>
          </a:xfrm>
          <a:prstGeom prst="ellipse">
            <a:avLst/>
          </a:prstGeom>
          <a:solidFill>
            <a:srgbClr val="2C3260"/>
          </a:solidFill>
          <a:ln w="19050">
            <a:solidFill>
              <a:srgbClr val="3B82F6"/>
            </a:solidFill>
            <a:prstDash val="solid"/>
          </a:ln>
        </p:spPr>
        <p:txBody>
          <a:bodyPr/>
          <a:lstStyle/>
          <a:p>
            <a:endParaRPr lang="en-IN"/>
          </a:p>
        </p:txBody>
      </p:sp>
      <p:pic>
        <p:nvPicPr>
          <p:cNvPr id="21" name="Image 3" descr="icons/users_muted.png"/>
          <p:cNvPicPr>
            <a:picLocks noChangeAspect="1"/>
          </p:cNvPicPr>
          <p:nvPr/>
        </p:nvPicPr>
        <p:blipFill>
          <a:blip r:embed="rId4"/>
          <a:stretch>
            <a:fillRect/>
          </a:stretch>
        </p:blipFill>
        <p:spPr>
          <a:xfrm>
            <a:off x="7018020" y="2377440"/>
            <a:ext cx="548640" cy="548640"/>
          </a:xfrm>
          <a:prstGeom prst="rect">
            <a:avLst/>
          </a:prstGeom>
        </p:spPr>
      </p:pic>
      <p:sp>
        <p:nvSpPr>
          <p:cNvPr id="22" name="Text 16"/>
          <p:cNvSpPr/>
          <p:nvPr/>
        </p:nvSpPr>
        <p:spPr>
          <a:xfrm>
            <a:off x="6172200" y="3291840"/>
            <a:ext cx="2240280" cy="320040"/>
          </a:xfrm>
          <a:prstGeom prst="rect">
            <a:avLst/>
          </a:prstGeom>
          <a:noFill/>
          <a:ln/>
        </p:spPr>
        <p:txBody>
          <a:bodyPr wrap="square" lIns="0" tIns="0" rIns="0" bIns="0" rtlCol="0" anchor="ctr"/>
          <a:lstStyle/>
          <a:p>
            <a:pPr marL="0" indent="0" algn="ctr">
              <a:buNone/>
              <a:defRPr sz="1300" b="1"/>
            </a:pPr>
            <a:r>
              <a:t>Academic Mentorship</a:t>
            </a:r>
            <a:endParaRPr lang="en-US" sz="1300" dirty="0"/>
          </a:p>
        </p:txBody>
      </p:sp>
      <p:sp>
        <p:nvSpPr>
          <p:cNvPr id="23" name="Text 17"/>
          <p:cNvSpPr/>
          <p:nvPr/>
        </p:nvSpPr>
        <p:spPr>
          <a:xfrm>
            <a:off x="6172200" y="3611880"/>
            <a:ext cx="2240280" cy="274320"/>
          </a:xfrm>
          <a:prstGeom prst="rect">
            <a:avLst/>
          </a:prstGeom>
          <a:noFill/>
          <a:ln/>
        </p:spPr>
        <p:txBody>
          <a:bodyPr wrap="square" lIns="0" tIns="0" rIns="0" bIns="0" rtlCol="0" anchor="ctr"/>
          <a:lstStyle/>
          <a:p>
            <a:pPr marL="0" indent="0" algn="ctr">
              <a:buNone/>
              <a:defRPr sz="1000" b="0"/>
            </a:pPr>
            <a:r>
              <a:t>Dept. of Electrical &amp; Computer Eng.</a:t>
            </a:r>
            <a:endParaRPr lang="en-US" sz="1100" dirty="0"/>
          </a:p>
        </p:txBody>
      </p:sp>
      <p:sp>
        <p:nvSpPr>
          <p:cNvPr id="24" name="Text 18"/>
          <p:cNvSpPr/>
          <p:nvPr/>
        </p:nvSpPr>
        <p:spPr>
          <a:xfrm>
            <a:off x="6217920" y="3977640"/>
            <a:ext cx="2148840" cy="1051560"/>
          </a:xfrm>
          <a:prstGeom prst="rect">
            <a:avLst/>
          </a:prstGeom>
          <a:noFill/>
          <a:ln/>
        </p:spPr>
        <p:txBody>
          <a:bodyPr wrap="square" lIns="0" tIns="0" rIns="0" bIns="0" rtlCol="0" anchor="t"/>
          <a:lstStyle/>
          <a:p>
            <a:pPr marL="0" indent="0" algn="ctr">
              <a:lnSpc>
                <a:spcPct val="115000"/>
              </a:lnSpc>
              <a:buNone/>
              <a:defRPr sz="900" b="0"/>
            </a:pPr>
            <a:r>
              <a:t>Faculty Advisory — Guidance on stochastic processes, semi-Markov likelihood formulations, non-exponential wear distributions, and locked experimental peer review protocols.</a:t>
            </a:r>
            <a:endParaRPr lang="en-US" sz="1050" dirty="0"/>
          </a:p>
        </p:txBody>
      </p:sp>
      <p:sp>
        <p:nvSpPr>
          <p:cNvPr id="25" name="Shape 19"/>
          <p:cNvSpPr/>
          <p:nvPr/>
        </p:nvSpPr>
        <p:spPr>
          <a:xfrm>
            <a:off x="8732520" y="1874520"/>
            <a:ext cx="2514600" cy="3291840"/>
          </a:xfrm>
          <a:prstGeom prst="roundRect">
            <a:avLst>
              <a:gd name="adj" fmla="val 3273"/>
            </a:avLst>
          </a:prstGeom>
          <a:solidFill>
            <a:srgbClr val="242A52"/>
          </a:solidFill>
          <a:ln/>
          <a:effectLst>
            <a:outerShdw blurRad="127000" dist="38100" dir="5400000" algn="bl" rotWithShape="0">
              <a:srgbClr val="000000">
                <a:alpha val="30000"/>
              </a:srgbClr>
            </a:outerShdw>
          </a:effectLst>
        </p:spPr>
        <p:txBody>
          <a:bodyPr/>
          <a:lstStyle/>
          <a:p>
            <a:endParaRPr lang="en-IN"/>
          </a:p>
        </p:txBody>
      </p:sp>
      <p:sp>
        <p:nvSpPr>
          <p:cNvPr id="26" name="Shape 20"/>
          <p:cNvSpPr/>
          <p:nvPr/>
        </p:nvSpPr>
        <p:spPr>
          <a:xfrm>
            <a:off x="9532620" y="2194560"/>
            <a:ext cx="914400" cy="914400"/>
          </a:xfrm>
          <a:prstGeom prst="ellipse">
            <a:avLst/>
          </a:prstGeom>
          <a:solidFill>
            <a:srgbClr val="2C3260"/>
          </a:solidFill>
          <a:ln w="19050">
            <a:solidFill>
              <a:srgbClr val="3B82F6"/>
            </a:solidFill>
            <a:prstDash val="solid"/>
          </a:ln>
        </p:spPr>
        <p:txBody>
          <a:bodyPr/>
          <a:lstStyle/>
          <a:p>
            <a:endParaRPr lang="en-IN"/>
          </a:p>
        </p:txBody>
      </p:sp>
      <p:pic>
        <p:nvPicPr>
          <p:cNvPr id="27" name="Image 4" descr="icons/users_muted.png"/>
          <p:cNvPicPr>
            <a:picLocks noChangeAspect="1"/>
          </p:cNvPicPr>
          <p:nvPr/>
        </p:nvPicPr>
        <p:blipFill>
          <a:blip r:embed="rId4"/>
          <a:stretch>
            <a:fillRect/>
          </a:stretch>
        </p:blipFill>
        <p:spPr>
          <a:xfrm>
            <a:off x="9715500" y="2377440"/>
            <a:ext cx="548640" cy="548640"/>
          </a:xfrm>
          <a:prstGeom prst="rect">
            <a:avLst/>
          </a:prstGeom>
        </p:spPr>
      </p:pic>
      <p:sp>
        <p:nvSpPr>
          <p:cNvPr id="28" name="Text 21"/>
          <p:cNvSpPr/>
          <p:nvPr/>
        </p:nvSpPr>
        <p:spPr>
          <a:xfrm>
            <a:off x="8869680" y="3291840"/>
            <a:ext cx="2240280" cy="320040"/>
          </a:xfrm>
          <a:prstGeom prst="rect">
            <a:avLst/>
          </a:prstGeom>
          <a:noFill/>
          <a:ln/>
        </p:spPr>
        <p:txBody>
          <a:bodyPr wrap="square" lIns="0" tIns="0" rIns="0" bIns="0" rtlCol="0" anchor="ctr"/>
          <a:lstStyle/>
          <a:p>
            <a:pPr marL="0" indent="0" algn="ctr">
              <a:buNone/>
              <a:defRPr sz="1300" b="1"/>
            </a:pPr>
            <a:r>
              <a:t>Schneider Electric Mentorship</a:t>
            </a:r>
            <a:endParaRPr lang="en-US" sz="1300" dirty="0"/>
          </a:p>
        </p:txBody>
      </p:sp>
      <p:sp>
        <p:nvSpPr>
          <p:cNvPr id="29" name="Text 22"/>
          <p:cNvSpPr/>
          <p:nvPr/>
        </p:nvSpPr>
        <p:spPr>
          <a:xfrm>
            <a:off x="8869680" y="3611880"/>
            <a:ext cx="2240280" cy="274320"/>
          </a:xfrm>
          <a:prstGeom prst="rect">
            <a:avLst/>
          </a:prstGeom>
          <a:noFill/>
          <a:ln/>
        </p:spPr>
        <p:txBody>
          <a:bodyPr wrap="square" lIns="0" tIns="0" rIns="0" bIns="0" rtlCol="0" anchor="ctr"/>
          <a:lstStyle/>
          <a:p>
            <a:pPr marL="0" indent="0" algn="ctr">
              <a:buNone/>
              <a:defRPr sz="1000" b="0"/>
            </a:pPr>
            <a:r>
              <a:t>SE Electrifiers &amp; Technical Mentors</a:t>
            </a:r>
            <a:endParaRPr lang="en-US" sz="1100" dirty="0"/>
          </a:p>
        </p:txBody>
      </p:sp>
      <p:sp>
        <p:nvSpPr>
          <p:cNvPr id="30" name="Text 23"/>
          <p:cNvSpPr/>
          <p:nvPr/>
        </p:nvSpPr>
        <p:spPr>
          <a:xfrm>
            <a:off x="8915400" y="3977640"/>
            <a:ext cx="2148840" cy="1051560"/>
          </a:xfrm>
          <a:prstGeom prst="rect">
            <a:avLst/>
          </a:prstGeom>
          <a:noFill/>
          <a:ln/>
        </p:spPr>
        <p:txBody>
          <a:bodyPr wrap="square" lIns="0" tIns="0" rIns="0" bIns="0" rtlCol="0" anchor="t"/>
          <a:lstStyle/>
          <a:p>
            <a:pPr marL="0" indent="0" algn="ctr">
              <a:lnSpc>
                <a:spcPct val="115000"/>
              </a:lnSpc>
              <a:buNone/>
              <a:defRPr sz="900" b="0"/>
            </a:pPr>
            <a:r>
              <a:t>Industry Alignment — Mapped during Phase 3 Mentoring Cadence for EcoStruxure Asset Advisor integration, Masterpact MTZ telemetry contracts, and pilot testbench roadmaps.</a:t>
            </a:r>
            <a:endParaRPr lang="en-US" sz="1050" dirty="0"/>
          </a:p>
        </p:txBody>
      </p:sp>
      <p:sp>
        <p:nvSpPr>
          <p:cNvPr id="31" name="Text 24"/>
          <p:cNvSpPr/>
          <p:nvPr/>
        </p:nvSpPr>
        <p:spPr>
          <a:xfrm>
            <a:off x="640080" y="5394960"/>
            <a:ext cx="10881360" cy="365760"/>
          </a:xfrm>
          <a:prstGeom prst="rect">
            <a:avLst/>
          </a:prstGeom>
          <a:noFill/>
          <a:ln/>
        </p:spPr>
        <p:txBody>
          <a:bodyPr wrap="square" lIns="0" tIns="0" rIns="0" bIns="0" rtlCol="0" anchor="ctr"/>
          <a:lstStyle/>
          <a:p>
            <a:pPr marL="0" indent="0">
              <a:buNone/>
              <a:defRPr sz="1100" b="1"/>
            </a:pPr>
            <a:r>
              <a:t>Cross-Disciplinary Team: Computer Science + Electrical Engineering | Dedicated Faculty &amp; Industry Mentor Cadence</a:t>
            </a:r>
            <a:endParaRPr lang="en-US" sz="1200" dirty="0"/>
          </a:p>
        </p:txBody>
      </p:sp>
      <p:sp>
        <p:nvSpPr>
          <p:cNvPr id="32" name="Text 25"/>
          <p:cNvSpPr/>
          <p:nvPr/>
        </p:nvSpPr>
        <p:spPr>
          <a:xfrm>
            <a:off x="548640" y="6537960"/>
            <a:ext cx="5486400" cy="274320"/>
          </a:xfrm>
          <a:prstGeom prst="rect">
            <a:avLst/>
          </a:prstGeom>
          <a:noFill/>
          <a:ln/>
        </p:spPr>
        <p:txBody>
          <a:bodyPr wrap="square" lIns="0" tIns="0" rIns="0" bIns="0" rtlCol="0" anchor="ctr"/>
          <a:lstStyle/>
          <a:p>
            <a:pPr marL="0" indent="0">
              <a:buNone/>
            </a:pPr>
            <a:r>
              <a:rPr lang="en-US" sz="900" dirty="0">
                <a:solidFill>
                  <a:srgbClr val="94A3B8"/>
                </a:solidFill>
                <a:latin typeface="Calibri" pitchFamily="34" charset="0"/>
                <a:ea typeface="Calibri" pitchFamily="34" charset="-122"/>
                <a:cs typeface="Calibri" pitchFamily="34" charset="-120"/>
              </a:rPr>
              <a:t>PredictX  ·  Team Pitch Deck Template</a:t>
            </a:r>
            <a:endParaRPr lang="en-US" sz="900" dirty="0"/>
          </a:p>
        </p:txBody>
      </p:sp>
      <p:sp>
        <p:nvSpPr>
          <p:cNvPr id="33" name="Text 26"/>
          <p:cNvSpPr/>
          <p:nvPr/>
        </p:nvSpPr>
        <p:spPr>
          <a:xfrm>
            <a:off x="11521440" y="6537960"/>
            <a:ext cx="365760" cy="274320"/>
          </a:xfrm>
          <a:prstGeom prst="rect">
            <a:avLst/>
          </a:prstGeom>
          <a:noFill/>
          <a:ln/>
        </p:spPr>
        <p:txBody>
          <a:bodyPr wrap="square" lIns="0" tIns="0" rIns="0" bIns="0" rtlCol="0" anchor="ctr"/>
          <a:lstStyle/>
          <a:p>
            <a:pPr marL="0" indent="0" algn="r">
              <a:buNone/>
            </a:pPr>
            <a:r>
              <a:rPr lang="en-US" sz="900" dirty="0">
                <a:solidFill>
                  <a:srgbClr val="94A3B8"/>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10">
    <p:bg>
      <p:bgPr>
        <a:solidFill>
          <a:srgbClr val="1B1F3B"/>
        </a:solidFill>
        <a:effectLst/>
      </p:bgPr>
    </p:bg>
    <p:spTree>
      <p:nvGrpSpPr>
        <p:cNvPr id="1" name=""/>
        <p:cNvGrpSpPr/>
        <p:nvPr/>
      </p:nvGrpSpPr>
      <p:grpSpPr>
        <a:xfrm>
          <a:off x="0" y="0"/>
          <a:ext cx="0" cy="0"/>
          <a:chOff x="0" y="0"/>
          <a:chExt cx="0" cy="0"/>
        </a:xfrm>
      </p:grpSpPr>
      <p:sp>
        <p:nvSpPr>
          <p:cNvPr id="2" name="Shape 0"/>
          <p:cNvSpPr/>
          <p:nvPr/>
        </p:nvSpPr>
        <p:spPr>
          <a:xfrm>
            <a:off x="10241280" y="-1645920"/>
            <a:ext cx="4114800" cy="4114800"/>
          </a:xfrm>
          <a:prstGeom prst="ellipse">
            <a:avLst/>
          </a:prstGeom>
          <a:solidFill>
            <a:srgbClr val="3B82F6">
              <a:alpha val="12000"/>
            </a:srgbClr>
          </a:solidFill>
          <a:ln/>
        </p:spPr>
        <p:txBody>
          <a:bodyPr/>
          <a:lstStyle/>
          <a:p>
            <a:endParaRPr lang="en-IN"/>
          </a:p>
        </p:txBody>
      </p:sp>
      <p:sp>
        <p:nvSpPr>
          <p:cNvPr id="3" name="Shape 1"/>
          <p:cNvSpPr/>
          <p:nvPr/>
        </p:nvSpPr>
        <p:spPr>
          <a:xfrm>
            <a:off x="-1463040" y="4846320"/>
            <a:ext cx="3657600" cy="3657600"/>
          </a:xfrm>
          <a:prstGeom prst="ellipse">
            <a:avLst/>
          </a:prstGeom>
          <a:solidFill>
            <a:srgbClr val="22D3EE">
              <a:alpha val="10000"/>
            </a:srgbClr>
          </a:solidFill>
          <a:ln/>
        </p:spPr>
        <p:txBody>
          <a:bodyPr/>
          <a:lstStyle/>
          <a:p>
            <a:endParaRPr lang="en-IN"/>
          </a:p>
        </p:txBody>
      </p:sp>
      <p:sp>
        <p:nvSpPr>
          <p:cNvPr id="4" name="Text 2"/>
          <p:cNvSpPr/>
          <p:nvPr/>
        </p:nvSpPr>
        <p:spPr>
          <a:xfrm>
            <a:off x="640080" y="457200"/>
            <a:ext cx="10515600" cy="594360"/>
          </a:xfrm>
          <a:prstGeom prst="rect">
            <a:avLst/>
          </a:prstGeom>
          <a:noFill/>
          <a:ln/>
        </p:spPr>
        <p:txBody>
          <a:bodyPr wrap="square" lIns="0" tIns="0" rIns="0" bIns="0"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Roadmap &amp; Next Steps</a:t>
            </a:r>
            <a:endParaRPr lang="en-US" sz="3000" dirty="0"/>
          </a:p>
        </p:txBody>
      </p:sp>
      <p:sp>
        <p:nvSpPr>
          <p:cNvPr id="5" name="Text 3"/>
          <p:cNvSpPr/>
          <p:nvPr/>
        </p:nvSpPr>
        <p:spPr>
          <a:xfrm>
            <a:off x="640080" y="1005840"/>
            <a:ext cx="10515600" cy="365760"/>
          </a:xfrm>
          <a:prstGeom prst="rect">
            <a:avLst/>
          </a:prstGeom>
          <a:noFill/>
          <a:ln/>
        </p:spPr>
        <p:txBody>
          <a:bodyPr wrap="square" lIns="0" tIns="0" rIns="0" bIns="0" rtlCol="0" anchor="ctr"/>
          <a:lstStyle/>
          <a:p>
            <a:pPr marL="0" indent="0">
              <a:buNone/>
            </a:pPr>
            <a:r>
              <a:rPr lang="en-US" sz="1350" i="1" dirty="0">
                <a:solidFill>
                  <a:srgbClr val="94A3B8"/>
                </a:solidFill>
                <a:latin typeface="Calibri" pitchFamily="34" charset="0"/>
                <a:ea typeface="Calibri" pitchFamily="34" charset="-122"/>
                <a:cs typeface="Calibri" pitchFamily="34" charset="-120"/>
              </a:rPr>
              <a:t>Where this goes beyond the hackathon</a:t>
            </a:r>
            <a:endParaRPr lang="en-US" sz="1350" dirty="0"/>
          </a:p>
        </p:txBody>
      </p:sp>
      <p:pic>
        <p:nvPicPr>
          <p:cNvPr id="6" name="Image 0" descr="icons/route_cyan.png"/>
          <p:cNvPicPr>
            <a:picLocks noChangeAspect="1"/>
          </p:cNvPicPr>
          <p:nvPr/>
        </p:nvPicPr>
        <p:blipFill>
          <a:blip r:embed="rId3"/>
          <a:stretch>
            <a:fillRect/>
          </a:stretch>
        </p:blipFill>
        <p:spPr>
          <a:xfrm>
            <a:off x="9784080" y="457200"/>
            <a:ext cx="1737360" cy="1737360"/>
          </a:xfrm>
          <a:prstGeom prst="rect">
            <a:avLst/>
          </a:prstGeom>
        </p:spPr>
      </p:pic>
      <p:sp>
        <p:nvSpPr>
          <p:cNvPr id="7" name="Shape 4"/>
          <p:cNvSpPr/>
          <p:nvPr/>
        </p:nvSpPr>
        <p:spPr>
          <a:xfrm>
            <a:off x="640080" y="1828800"/>
            <a:ext cx="10881360" cy="1143000"/>
          </a:xfrm>
          <a:prstGeom prst="roundRect">
            <a:avLst>
              <a:gd name="adj" fmla="val 7200"/>
            </a:avLst>
          </a:prstGeom>
          <a:solidFill>
            <a:srgbClr val="242A52"/>
          </a:solidFill>
          <a:ln/>
        </p:spPr>
        <p:txBody>
          <a:bodyPr/>
          <a:lstStyle/>
          <a:p>
            <a:endParaRPr lang="en-IN"/>
          </a:p>
        </p:txBody>
      </p:sp>
      <p:sp>
        <p:nvSpPr>
          <p:cNvPr id="8" name="Shape 5"/>
          <p:cNvSpPr/>
          <p:nvPr/>
        </p:nvSpPr>
        <p:spPr>
          <a:xfrm>
            <a:off x="868680" y="2084832"/>
            <a:ext cx="502920" cy="502920"/>
          </a:xfrm>
          <a:prstGeom prst="ellipse">
            <a:avLst/>
          </a:prstGeom>
          <a:solidFill>
            <a:srgbClr val="3B82F6">
              <a:alpha val="85000"/>
            </a:srgbClr>
          </a:solidFill>
          <a:ln/>
        </p:spPr>
        <p:txBody>
          <a:bodyPr/>
          <a:lstStyle/>
          <a:p>
            <a:endParaRPr lang="en-IN"/>
          </a:p>
        </p:txBody>
      </p:sp>
      <p:sp>
        <p:nvSpPr>
          <p:cNvPr id="9" name="Text 6"/>
          <p:cNvSpPr/>
          <p:nvPr/>
        </p:nvSpPr>
        <p:spPr>
          <a:xfrm>
            <a:off x="868680" y="2084832"/>
            <a:ext cx="502920" cy="502920"/>
          </a:xfrm>
          <a:prstGeom prst="rect">
            <a:avLst/>
          </a:prstGeom>
          <a:noFill/>
          <a:ln/>
        </p:spPr>
        <p:txBody>
          <a:bodyPr wrap="square" lIns="0" tIns="0" rIns="0" bIns="0"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1</a:t>
            </a:r>
            <a:endParaRPr lang="en-US" sz="1800" dirty="0"/>
          </a:p>
        </p:txBody>
      </p:sp>
      <p:sp>
        <p:nvSpPr>
          <p:cNvPr id="10" name="Text 7"/>
          <p:cNvSpPr/>
          <p:nvPr/>
        </p:nvSpPr>
        <p:spPr>
          <a:xfrm>
            <a:off x="1600200" y="1965960"/>
            <a:ext cx="3108960" cy="822960"/>
          </a:xfrm>
          <a:prstGeom prst="rect">
            <a:avLst/>
          </a:prstGeom>
          <a:noFill/>
          <a:ln/>
        </p:spPr>
        <p:txBody>
          <a:bodyPr wrap="square" lIns="0" tIns="0" rIns="0" bIns="0" rtlCol="0" anchor="ctr"/>
          <a:lstStyle/>
          <a:p>
            <a:pPr marL="0" indent="0">
              <a:buNone/>
            </a:pPr>
            <a:r>
              <a:rPr lang="en-US" sz="1450" b="1" dirty="0">
                <a:solidFill>
                  <a:srgbClr val="22D3EE"/>
                </a:solidFill>
                <a:latin typeface="Calibri" pitchFamily="34" charset="0"/>
                <a:ea typeface="Calibri" pitchFamily="34" charset="-122"/>
                <a:cs typeface="Calibri" pitchFamily="34" charset="-120"/>
              </a:rPr>
              <a:t>If Shortlisted</a:t>
            </a:r>
            <a:endParaRPr lang="en-US" sz="1450" dirty="0"/>
          </a:p>
        </p:txBody>
      </p:sp>
      <p:sp>
        <p:nvSpPr>
          <p:cNvPr id="11" name="Text 8"/>
          <p:cNvSpPr/>
          <p:nvPr/>
        </p:nvSpPr>
        <p:spPr>
          <a:xfrm>
            <a:off x="4846320" y="1965960"/>
            <a:ext cx="6492240" cy="822960"/>
          </a:xfrm>
          <a:prstGeom prst="rect">
            <a:avLst/>
          </a:prstGeom>
          <a:noFill/>
          <a:ln/>
        </p:spPr>
        <p:txBody>
          <a:bodyPr wrap="square" lIns="0" tIns="0" rIns="0" bIns="0" rtlCol="0" anchor="ctr"/>
          <a:lstStyle/>
          <a:p>
            <a:pPr marL="0" indent="0">
              <a:lnSpc>
                <a:spcPct val="115000"/>
              </a:lnSpc>
              <a:buNone/>
              <a:defRPr sz="1100"/>
            </a:pPr>
            <a:r>
              <a:t>• Collaborate with assigned Schneider Electrifiers to validate switchgear sensor telemetry contracts.</a:t>
            </a:r>
            <a:br/>
            <a:r>
              <a:t>• Calibrate domain adaptation on physical breaker thermal cycling and contact resistance datasets.</a:t>
            </a:r>
            <a:br/>
            <a:r>
              <a:t>• Benchmark and optimize sub-15ms edge inference on ARM Cortex-A industrial hardware.</a:t>
            </a:r>
            <a:endParaRPr lang="en-US" sz="1250" dirty="0"/>
          </a:p>
        </p:txBody>
      </p:sp>
      <p:sp>
        <p:nvSpPr>
          <p:cNvPr id="12" name="Shape 9"/>
          <p:cNvSpPr/>
          <p:nvPr/>
        </p:nvSpPr>
        <p:spPr>
          <a:xfrm>
            <a:off x="640080" y="3200400"/>
            <a:ext cx="10881360" cy="1143000"/>
          </a:xfrm>
          <a:prstGeom prst="roundRect">
            <a:avLst>
              <a:gd name="adj" fmla="val 7200"/>
            </a:avLst>
          </a:prstGeom>
          <a:solidFill>
            <a:srgbClr val="242A52"/>
          </a:solidFill>
          <a:ln/>
        </p:spPr>
        <p:txBody>
          <a:bodyPr/>
          <a:lstStyle/>
          <a:p>
            <a:endParaRPr lang="en-IN"/>
          </a:p>
        </p:txBody>
      </p:sp>
      <p:sp>
        <p:nvSpPr>
          <p:cNvPr id="13" name="Shape 10"/>
          <p:cNvSpPr/>
          <p:nvPr/>
        </p:nvSpPr>
        <p:spPr>
          <a:xfrm>
            <a:off x="868680" y="3456432"/>
            <a:ext cx="502920" cy="502920"/>
          </a:xfrm>
          <a:prstGeom prst="ellipse">
            <a:avLst/>
          </a:prstGeom>
          <a:solidFill>
            <a:srgbClr val="3B82F6">
              <a:alpha val="85000"/>
            </a:srgbClr>
          </a:solidFill>
          <a:ln/>
        </p:spPr>
        <p:txBody>
          <a:bodyPr/>
          <a:lstStyle/>
          <a:p>
            <a:endParaRPr lang="en-IN"/>
          </a:p>
        </p:txBody>
      </p:sp>
      <p:sp>
        <p:nvSpPr>
          <p:cNvPr id="14" name="Text 11"/>
          <p:cNvSpPr/>
          <p:nvPr/>
        </p:nvSpPr>
        <p:spPr>
          <a:xfrm>
            <a:off x="868680" y="3456432"/>
            <a:ext cx="502920" cy="502920"/>
          </a:xfrm>
          <a:prstGeom prst="rect">
            <a:avLst/>
          </a:prstGeom>
          <a:noFill/>
          <a:ln/>
        </p:spPr>
        <p:txBody>
          <a:bodyPr wrap="square" lIns="0" tIns="0" rIns="0" bIns="0"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2</a:t>
            </a:r>
            <a:endParaRPr lang="en-US" sz="1800" dirty="0"/>
          </a:p>
        </p:txBody>
      </p:sp>
      <p:sp>
        <p:nvSpPr>
          <p:cNvPr id="15" name="Text 12"/>
          <p:cNvSpPr/>
          <p:nvPr/>
        </p:nvSpPr>
        <p:spPr>
          <a:xfrm>
            <a:off x="1600200" y="3337560"/>
            <a:ext cx="3108960" cy="822960"/>
          </a:xfrm>
          <a:prstGeom prst="rect">
            <a:avLst/>
          </a:prstGeom>
          <a:noFill/>
          <a:ln/>
        </p:spPr>
        <p:txBody>
          <a:bodyPr wrap="square" lIns="0" tIns="0" rIns="0" bIns="0" rtlCol="0" anchor="ctr"/>
          <a:lstStyle/>
          <a:p>
            <a:pPr marL="0" indent="0">
              <a:buNone/>
            </a:pPr>
            <a:r>
              <a:rPr lang="en-US" sz="1450" b="1" dirty="0">
                <a:solidFill>
                  <a:srgbClr val="22D3EE"/>
                </a:solidFill>
                <a:latin typeface="Calibri" pitchFamily="34" charset="0"/>
                <a:ea typeface="Calibri" pitchFamily="34" charset="-122"/>
                <a:cs typeface="Calibri" pitchFamily="34" charset="-120"/>
              </a:rPr>
              <a:t>If Selected as Winner</a:t>
            </a:r>
            <a:endParaRPr lang="en-US" sz="1450" dirty="0"/>
          </a:p>
        </p:txBody>
      </p:sp>
      <p:sp>
        <p:nvSpPr>
          <p:cNvPr id="16" name="Text 13"/>
          <p:cNvSpPr/>
          <p:nvPr/>
        </p:nvSpPr>
        <p:spPr>
          <a:xfrm>
            <a:off x="4846320" y="3337560"/>
            <a:ext cx="6492240" cy="822960"/>
          </a:xfrm>
          <a:prstGeom prst="rect">
            <a:avLst/>
          </a:prstGeom>
          <a:noFill/>
          <a:ln/>
        </p:spPr>
        <p:txBody>
          <a:bodyPr wrap="square" lIns="0" tIns="0" rIns="0" bIns="0" rtlCol="0" anchor="ctr"/>
          <a:lstStyle/>
          <a:p>
            <a:pPr marL="0" indent="0">
              <a:lnSpc>
                <a:spcPct val="115000"/>
              </a:lnSpc>
              <a:buNone/>
              <a:defRPr sz="1100"/>
            </a:pPr>
            <a:r>
              <a:t>• Embed with Schneider R&amp;D to port AEGIS onto Schneider Harmony industrial edge iPCs.</a:t>
            </a:r>
            <a:br/>
            <a:r>
              <a:t>• Integrate event grammar telemetry streams into EcoStruxure Asset Advisor.</a:t>
            </a:r>
            <a:br/>
            <a:r>
              <a:t>• Conduct live hardware-in-the-loop pilot testing on Masterpact MTZ circuit breaker test benches.</a:t>
            </a:r>
            <a:endParaRPr lang="en-US" sz="1250" dirty="0"/>
          </a:p>
        </p:txBody>
      </p:sp>
      <p:sp>
        <p:nvSpPr>
          <p:cNvPr id="17" name="Shape 14"/>
          <p:cNvSpPr/>
          <p:nvPr/>
        </p:nvSpPr>
        <p:spPr>
          <a:xfrm>
            <a:off x="640080" y="4572000"/>
            <a:ext cx="10881360" cy="1143000"/>
          </a:xfrm>
          <a:prstGeom prst="roundRect">
            <a:avLst>
              <a:gd name="adj" fmla="val 7200"/>
            </a:avLst>
          </a:prstGeom>
          <a:solidFill>
            <a:srgbClr val="242A52"/>
          </a:solidFill>
          <a:ln/>
        </p:spPr>
        <p:txBody>
          <a:bodyPr/>
          <a:lstStyle/>
          <a:p>
            <a:endParaRPr lang="en-IN"/>
          </a:p>
        </p:txBody>
      </p:sp>
      <p:sp>
        <p:nvSpPr>
          <p:cNvPr id="18" name="Shape 15"/>
          <p:cNvSpPr/>
          <p:nvPr/>
        </p:nvSpPr>
        <p:spPr>
          <a:xfrm>
            <a:off x="868680" y="4828032"/>
            <a:ext cx="502920" cy="502920"/>
          </a:xfrm>
          <a:prstGeom prst="ellipse">
            <a:avLst/>
          </a:prstGeom>
          <a:solidFill>
            <a:srgbClr val="3B82F6">
              <a:alpha val="85000"/>
            </a:srgbClr>
          </a:solidFill>
          <a:ln/>
        </p:spPr>
        <p:txBody>
          <a:bodyPr/>
          <a:lstStyle/>
          <a:p>
            <a:endParaRPr lang="en-IN"/>
          </a:p>
        </p:txBody>
      </p:sp>
      <p:sp>
        <p:nvSpPr>
          <p:cNvPr id="19" name="Text 16"/>
          <p:cNvSpPr/>
          <p:nvPr/>
        </p:nvSpPr>
        <p:spPr>
          <a:xfrm>
            <a:off x="868680" y="4828032"/>
            <a:ext cx="502920" cy="502920"/>
          </a:xfrm>
          <a:prstGeom prst="rect">
            <a:avLst/>
          </a:prstGeom>
          <a:noFill/>
          <a:ln/>
        </p:spPr>
        <p:txBody>
          <a:bodyPr wrap="square" lIns="0" tIns="0" rIns="0" bIns="0"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3</a:t>
            </a:r>
            <a:endParaRPr lang="en-US" sz="1800" dirty="0"/>
          </a:p>
        </p:txBody>
      </p:sp>
      <p:sp>
        <p:nvSpPr>
          <p:cNvPr id="20" name="Text 17"/>
          <p:cNvSpPr/>
          <p:nvPr/>
        </p:nvSpPr>
        <p:spPr>
          <a:xfrm>
            <a:off x="1600200" y="4709160"/>
            <a:ext cx="3108960" cy="822960"/>
          </a:xfrm>
          <a:prstGeom prst="rect">
            <a:avLst/>
          </a:prstGeom>
          <a:noFill/>
          <a:ln/>
        </p:spPr>
        <p:txBody>
          <a:bodyPr wrap="square" lIns="0" tIns="0" rIns="0" bIns="0" rtlCol="0" anchor="ctr"/>
          <a:lstStyle/>
          <a:p>
            <a:pPr marL="0" indent="0">
              <a:buNone/>
            </a:pPr>
            <a:r>
              <a:rPr lang="en-US" sz="1450" b="1" dirty="0">
                <a:solidFill>
                  <a:srgbClr val="22D3EE"/>
                </a:solidFill>
                <a:latin typeface="Calibri" pitchFamily="34" charset="0"/>
                <a:ea typeface="Calibri" pitchFamily="34" charset="-122"/>
                <a:cs typeface="Calibri" pitchFamily="34" charset="-120"/>
              </a:rPr>
              <a:t>Long-Term Vision</a:t>
            </a:r>
            <a:endParaRPr lang="en-US" sz="1450" dirty="0"/>
          </a:p>
        </p:txBody>
      </p:sp>
      <p:sp>
        <p:nvSpPr>
          <p:cNvPr id="21" name="Text 18"/>
          <p:cNvSpPr/>
          <p:nvPr/>
        </p:nvSpPr>
        <p:spPr>
          <a:xfrm>
            <a:off x="4846320" y="4709160"/>
            <a:ext cx="6492240" cy="822960"/>
          </a:xfrm>
          <a:prstGeom prst="rect">
            <a:avLst/>
          </a:prstGeom>
          <a:noFill/>
          <a:ln/>
        </p:spPr>
        <p:txBody>
          <a:bodyPr wrap="square" lIns="0" tIns="0" rIns="0" bIns="0" rtlCol="0" anchor="ctr"/>
          <a:lstStyle/>
          <a:p>
            <a:pPr marL="0" indent="0">
              <a:lnSpc>
                <a:spcPct val="115000"/>
              </a:lnSpc>
              <a:buNone/>
              <a:defRPr sz="1100"/>
            </a:pPr>
            <a:r>
              <a:t>• Scale across the global EcoStruxure fleet protecting millions of MV/LV electrical breakers and hyperscale data centers.</a:t>
            </a:r>
            <a:br/>
            <a:r>
              <a:t>• Eliminate $1.08M downtime events per facility through conformal risk-bounded predictive replacement.</a:t>
            </a:r>
            <a:br/>
            <a:r>
              <a:t>• Establish the industry benchmark for auditable, neuro-symbolic predictive intelligence.</a:t>
            </a:r>
            <a:endParaRPr lang="en-US" sz="1250" dirty="0"/>
          </a:p>
        </p:txBody>
      </p:sp>
      <p:sp>
        <p:nvSpPr>
          <p:cNvPr id="22" name="Text 19"/>
          <p:cNvSpPr/>
          <p:nvPr/>
        </p:nvSpPr>
        <p:spPr>
          <a:xfrm>
            <a:off x="548640" y="6537960"/>
            <a:ext cx="5486400" cy="274320"/>
          </a:xfrm>
          <a:prstGeom prst="rect">
            <a:avLst/>
          </a:prstGeom>
          <a:noFill/>
          <a:ln/>
        </p:spPr>
        <p:txBody>
          <a:bodyPr wrap="square" lIns="0" tIns="0" rIns="0" bIns="0" rtlCol="0" anchor="ctr"/>
          <a:lstStyle/>
          <a:p>
            <a:pPr marL="0" indent="0">
              <a:buNone/>
            </a:pPr>
            <a:r>
              <a:rPr lang="en-US" sz="900" dirty="0">
                <a:solidFill>
                  <a:srgbClr val="94A3B8"/>
                </a:solidFill>
                <a:latin typeface="Calibri" pitchFamily="34" charset="0"/>
                <a:ea typeface="Calibri" pitchFamily="34" charset="-122"/>
                <a:cs typeface="Calibri" pitchFamily="34" charset="-120"/>
              </a:rPr>
              <a:t>PredictX  ·  Team Pitch Deck Template</a:t>
            </a:r>
            <a:endParaRPr lang="en-US" sz="900" dirty="0"/>
          </a:p>
        </p:txBody>
      </p:sp>
      <p:sp>
        <p:nvSpPr>
          <p:cNvPr id="23" name="Text 20"/>
          <p:cNvSpPr/>
          <p:nvPr/>
        </p:nvSpPr>
        <p:spPr>
          <a:xfrm>
            <a:off x="11521440" y="6537960"/>
            <a:ext cx="365760" cy="274320"/>
          </a:xfrm>
          <a:prstGeom prst="rect">
            <a:avLst/>
          </a:prstGeom>
          <a:noFill/>
          <a:ln/>
        </p:spPr>
        <p:txBody>
          <a:bodyPr wrap="square" lIns="0" tIns="0" rIns="0" bIns="0" rtlCol="0" anchor="ctr"/>
          <a:lstStyle/>
          <a:p>
            <a:pPr marL="0" indent="0" algn="r">
              <a:buNone/>
            </a:pPr>
            <a:r>
              <a:rPr lang="en-US" sz="900" dirty="0">
                <a:solidFill>
                  <a:srgbClr val="94A3B8"/>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11">
    <p:bg>
      <p:bgPr>
        <a:solidFill>
          <a:srgbClr val="1B1F3B"/>
        </a:solidFill>
        <a:effectLst/>
      </p:bgPr>
    </p:bg>
    <p:spTree>
      <p:nvGrpSpPr>
        <p:cNvPr id="1" name=""/>
        <p:cNvGrpSpPr/>
        <p:nvPr/>
      </p:nvGrpSpPr>
      <p:grpSpPr>
        <a:xfrm>
          <a:off x="0" y="0"/>
          <a:ext cx="0" cy="0"/>
          <a:chOff x="0" y="0"/>
          <a:chExt cx="0" cy="0"/>
        </a:xfrm>
      </p:grpSpPr>
      <p:sp>
        <p:nvSpPr>
          <p:cNvPr id="2" name="Shape 0"/>
          <p:cNvSpPr/>
          <p:nvPr/>
        </p:nvSpPr>
        <p:spPr>
          <a:xfrm>
            <a:off x="10241280" y="-1645920"/>
            <a:ext cx="4114800" cy="4114800"/>
          </a:xfrm>
          <a:prstGeom prst="ellipse">
            <a:avLst/>
          </a:prstGeom>
          <a:solidFill>
            <a:srgbClr val="3B82F6">
              <a:alpha val="12000"/>
            </a:srgbClr>
          </a:solidFill>
          <a:ln/>
        </p:spPr>
        <p:txBody>
          <a:bodyPr/>
          <a:lstStyle/>
          <a:p>
            <a:endParaRPr lang="en-IN"/>
          </a:p>
        </p:txBody>
      </p:sp>
      <p:sp>
        <p:nvSpPr>
          <p:cNvPr id="3" name="Shape 1"/>
          <p:cNvSpPr/>
          <p:nvPr/>
        </p:nvSpPr>
        <p:spPr>
          <a:xfrm>
            <a:off x="-1463040" y="4846320"/>
            <a:ext cx="3657600" cy="3657600"/>
          </a:xfrm>
          <a:prstGeom prst="ellipse">
            <a:avLst/>
          </a:prstGeom>
          <a:solidFill>
            <a:srgbClr val="22D3EE">
              <a:alpha val="10000"/>
            </a:srgbClr>
          </a:solidFill>
          <a:ln/>
        </p:spPr>
        <p:txBody>
          <a:bodyPr/>
          <a:lstStyle/>
          <a:p>
            <a:endParaRPr lang="en-IN"/>
          </a:p>
        </p:txBody>
      </p:sp>
      <p:pic>
        <p:nvPicPr>
          <p:cNvPr id="4" name="Image 0" descr="icons/handshake_cyan.png"/>
          <p:cNvPicPr>
            <a:picLocks noChangeAspect="1"/>
          </p:cNvPicPr>
          <p:nvPr/>
        </p:nvPicPr>
        <p:blipFill>
          <a:blip r:embed="rId3"/>
          <a:stretch>
            <a:fillRect/>
          </a:stretch>
        </p:blipFill>
        <p:spPr>
          <a:xfrm>
            <a:off x="5349240" y="1371600"/>
            <a:ext cx="1463040" cy="1463040"/>
          </a:xfrm>
          <a:prstGeom prst="rect">
            <a:avLst/>
          </a:prstGeom>
        </p:spPr>
      </p:pic>
      <p:sp>
        <p:nvSpPr>
          <p:cNvPr id="5" name="Text 2"/>
          <p:cNvSpPr/>
          <p:nvPr/>
        </p:nvSpPr>
        <p:spPr>
          <a:xfrm>
            <a:off x="640080" y="3017520"/>
            <a:ext cx="10881360" cy="822960"/>
          </a:xfrm>
          <a:prstGeom prst="rect">
            <a:avLst/>
          </a:prstGeom>
          <a:noFill/>
          <a:ln/>
        </p:spPr>
        <p:txBody>
          <a:bodyPr wrap="square" lIns="0" tIns="0" rIns="0" bIns="0" rtlCol="0" anchor="ctr"/>
          <a:lstStyle/>
          <a:p>
            <a:pPr marL="0" indent="0" algn="ctr">
              <a:buNone/>
            </a:pPr>
            <a:r>
              <a:rPr lang="en-US" sz="4000" b="1" dirty="0">
                <a:solidFill>
                  <a:srgbClr val="FFFFFF"/>
                </a:solidFill>
                <a:latin typeface="Cambria" pitchFamily="34" charset="0"/>
                <a:ea typeface="Cambria" pitchFamily="34" charset="-122"/>
                <a:cs typeface="Cambria" pitchFamily="34" charset="-120"/>
              </a:rPr>
              <a:t>Thank You</a:t>
            </a:r>
            <a:endParaRPr lang="en-US" sz="4000" dirty="0"/>
          </a:p>
        </p:txBody>
      </p:sp>
      <p:sp>
        <p:nvSpPr>
          <p:cNvPr id="6" name="Text 3"/>
          <p:cNvSpPr/>
          <p:nvPr/>
        </p:nvSpPr>
        <p:spPr>
          <a:xfrm>
            <a:off x="640080" y="3794760"/>
            <a:ext cx="10881360" cy="457200"/>
          </a:xfrm>
          <a:prstGeom prst="rect">
            <a:avLst/>
          </a:prstGeom>
          <a:noFill/>
          <a:ln/>
        </p:spPr>
        <p:txBody>
          <a:bodyPr wrap="square" lIns="0" tIns="0" rIns="0" bIns="0" rtlCol="0" anchor="ctr"/>
          <a:lstStyle/>
          <a:p>
            <a:pPr marL="0" indent="0" algn="ctr">
              <a:buNone/>
              <a:defRPr sz="1800" b="1">
                <a:solidFill>
                  <a:srgbClr val="00A032"/>
                </a:solidFill>
              </a:defRPr>
            </a:pPr>
            <a:r>
              <a:t>AEGIS — Event Grammar Probabilistic Model (EGPM)  ·  Questions Welcome</a:t>
            </a:r>
            <a:endParaRPr lang="en-US" sz="1600" dirty="0"/>
          </a:p>
        </p:txBody>
      </p:sp>
      <p:sp>
        <p:nvSpPr>
          <p:cNvPr id="7" name="Text 4"/>
          <p:cNvSpPr/>
          <p:nvPr/>
        </p:nvSpPr>
        <p:spPr>
          <a:xfrm>
            <a:off x="640080" y="4343400"/>
            <a:ext cx="10881360" cy="365760"/>
          </a:xfrm>
          <a:prstGeom prst="rect">
            <a:avLst/>
          </a:prstGeom>
          <a:noFill/>
          <a:ln/>
        </p:spPr>
        <p:txBody>
          <a:bodyPr wrap="square" lIns="0" tIns="0" rIns="0" bIns="0" rtlCol="0" anchor="ctr"/>
          <a:lstStyle/>
          <a:p>
            <a:pPr marL="0" indent="0" algn="ctr">
              <a:buNone/>
              <a:defRPr sz="1300" b="0"/>
            </a:pPr>
            <a:r>
              <a:t>Atharva Mendhulkar (Atharvamendhulkar01@gmail.com) &amp; Divyansh Seth</a:t>
            </a:r>
            <a:br/>
            <a:r>
              <a:t>Project Codebase &amp; Verification: github.com/Atharva-Mendhulkar/aegis-1</a:t>
            </a:r>
            <a:endParaRPr lang="en-US" sz="1250" dirty="0"/>
          </a:p>
        </p:txBody>
      </p:sp>
      <p:sp>
        <p:nvSpPr>
          <p:cNvPr id="8" name="Text 5"/>
          <p:cNvSpPr/>
          <p:nvPr/>
        </p:nvSpPr>
        <p:spPr>
          <a:xfrm>
            <a:off x="548640" y="6537960"/>
            <a:ext cx="5486400" cy="274320"/>
          </a:xfrm>
          <a:prstGeom prst="rect">
            <a:avLst/>
          </a:prstGeom>
          <a:noFill/>
          <a:ln/>
        </p:spPr>
        <p:txBody>
          <a:bodyPr wrap="square" lIns="0" tIns="0" rIns="0" bIns="0" rtlCol="0" anchor="ctr"/>
          <a:lstStyle/>
          <a:p>
            <a:pPr marL="0" indent="0">
              <a:buNone/>
            </a:pPr>
            <a:r>
              <a:rPr lang="en-US" sz="900" dirty="0">
                <a:solidFill>
                  <a:srgbClr val="94A3B8"/>
                </a:solidFill>
                <a:latin typeface="Calibri" pitchFamily="34" charset="0"/>
                <a:ea typeface="Calibri" pitchFamily="34" charset="-122"/>
                <a:cs typeface="Calibri" pitchFamily="34" charset="-120"/>
              </a:rPr>
              <a:t>PredictX  ·  Team Pitch Deck Template</a:t>
            </a:r>
            <a:endParaRPr lang="en-US" sz="900" dirty="0"/>
          </a:p>
        </p:txBody>
      </p:sp>
      <p:sp>
        <p:nvSpPr>
          <p:cNvPr id="9" name="Text 6"/>
          <p:cNvSpPr/>
          <p:nvPr/>
        </p:nvSpPr>
        <p:spPr>
          <a:xfrm>
            <a:off x="11521440" y="6537960"/>
            <a:ext cx="365760" cy="274320"/>
          </a:xfrm>
          <a:prstGeom prst="rect">
            <a:avLst/>
          </a:prstGeom>
          <a:noFill/>
          <a:ln/>
        </p:spPr>
        <p:txBody>
          <a:bodyPr wrap="square" lIns="0" tIns="0" rIns="0" bIns="0" rtlCol="0" anchor="ctr"/>
          <a:lstStyle/>
          <a:p>
            <a:pPr marL="0" indent="0" algn="r">
              <a:buNone/>
            </a:pPr>
            <a:r>
              <a:rPr lang="en-US" sz="900" dirty="0">
                <a:solidFill>
                  <a:srgbClr val="94A3B8"/>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hape 0"/>
          <p:cNvSpPr/>
          <p:nvPr/>
        </p:nvSpPr>
        <p:spPr>
          <a:xfrm>
            <a:off x="10241280" y="-1645920"/>
            <a:ext cx="4114800" cy="4114800"/>
          </a:xfrm>
          <a:prstGeom prst="ellipse">
            <a:avLst/>
          </a:prstGeom>
          <a:solidFill>
            <a:srgbClr val="3B82F6">
              <a:alpha val="12000"/>
            </a:srgbClr>
          </a:solidFill>
          <a:ln/>
        </p:spPr>
        <p:txBody>
          <a:bodyPr/>
          <a:lstStyle/>
          <a:p>
            <a:endParaRPr lang="en-IN"/>
          </a:p>
        </p:txBody>
      </p:sp>
      <p:sp>
        <p:nvSpPr>
          <p:cNvPr id="3" name="Shape 1"/>
          <p:cNvSpPr/>
          <p:nvPr/>
        </p:nvSpPr>
        <p:spPr>
          <a:xfrm>
            <a:off x="-1463040" y="4846320"/>
            <a:ext cx="3657600" cy="3657600"/>
          </a:xfrm>
          <a:prstGeom prst="ellipse">
            <a:avLst/>
          </a:prstGeom>
          <a:solidFill>
            <a:srgbClr val="22D3EE">
              <a:alpha val="10000"/>
            </a:srgbClr>
          </a:solidFill>
          <a:ln/>
        </p:spPr>
        <p:txBody>
          <a:bodyPr/>
          <a:lstStyle/>
          <a:p>
            <a:endParaRPr lang="en-IN"/>
          </a:p>
        </p:txBody>
      </p:sp>
      <p:sp>
        <p:nvSpPr>
          <p:cNvPr id="4" name="Text 2"/>
          <p:cNvSpPr/>
          <p:nvPr/>
        </p:nvSpPr>
        <p:spPr>
          <a:xfrm>
            <a:off x="640080" y="457200"/>
            <a:ext cx="10515600" cy="594360"/>
          </a:xfrm>
          <a:prstGeom prst="rect">
            <a:avLst/>
          </a:prstGeom>
          <a:noFill/>
          <a:ln/>
        </p:spPr>
        <p:txBody>
          <a:bodyPr wrap="square" lIns="0" tIns="0" rIns="0" bIns="0" rtlCol="0" anchor="ctr"/>
          <a:lstStyle/>
          <a:p>
            <a:pPr marL="0" indent="0">
              <a:buNone/>
              <a:defRPr sz="2000" b="1">
                <a:solidFill>
                  <a:srgbClr val="00A032"/>
                </a:solidFill>
              </a:defRPr>
            </a:pPr>
            <a:r>
              <a:t>Scientific Rigor &amp; Honest Engineering</a:t>
            </a:r>
            <a:endParaRPr lang="en-US" sz="3000" dirty="0"/>
          </a:p>
        </p:txBody>
      </p:sp>
      <p:sp>
        <p:nvSpPr>
          <p:cNvPr id="5" name="Text 3"/>
          <p:cNvSpPr/>
          <p:nvPr/>
        </p:nvSpPr>
        <p:spPr>
          <a:xfrm>
            <a:off x="640080" y="1005840"/>
            <a:ext cx="10515600" cy="365760"/>
          </a:xfrm>
          <a:prstGeom prst="rect">
            <a:avLst/>
          </a:prstGeom>
          <a:noFill/>
          <a:ln/>
        </p:spPr>
        <p:txBody>
          <a:bodyPr wrap="square" lIns="0" tIns="0" rIns="0" bIns="0" rtlCol="0" anchor="ctr"/>
          <a:lstStyle/>
          <a:p>
            <a:pPr marL="0" indent="0">
              <a:buNone/>
              <a:defRPr sz="1100"/>
            </a:pPr>
            <a:r>
              <a:t>What Works, What Does Not Yet Work Universally, and Architectural Responses</a:t>
            </a:r>
            <a:endParaRPr lang="en-US" sz="1350" dirty="0"/>
          </a:p>
        </p:txBody>
      </p:sp>
      <p:sp>
        <p:nvSpPr>
          <p:cNvPr id="6" name="Shape 4"/>
          <p:cNvSpPr/>
          <p:nvPr/>
        </p:nvSpPr>
        <p:spPr>
          <a:xfrm>
            <a:off x="8869680" y="502920"/>
            <a:ext cx="2331720" cy="384048"/>
          </a:xfrm>
          <a:prstGeom prst="roundRect">
            <a:avLst>
              <a:gd name="adj" fmla="val 50000"/>
            </a:avLst>
          </a:prstGeom>
          <a:solidFill>
            <a:srgbClr val="22D3EE">
              <a:alpha val="15000"/>
            </a:srgbClr>
          </a:solidFill>
          <a:ln w="12700">
            <a:solidFill>
              <a:srgbClr val="22D3EE"/>
            </a:solidFill>
            <a:prstDash val="solid"/>
          </a:ln>
        </p:spPr>
        <p:txBody>
          <a:bodyPr/>
          <a:lstStyle/>
          <a:p>
            <a:endParaRPr lang="en-IN"/>
          </a:p>
        </p:txBody>
      </p:sp>
      <p:sp>
        <p:nvSpPr>
          <p:cNvPr id="7" name="Text 5"/>
          <p:cNvSpPr/>
          <p:nvPr/>
        </p:nvSpPr>
        <p:spPr>
          <a:xfrm>
            <a:off x="8869680" y="502920"/>
            <a:ext cx="2331720" cy="384048"/>
          </a:xfrm>
          <a:prstGeom prst="rect">
            <a:avLst/>
          </a:prstGeom>
          <a:noFill/>
          <a:ln/>
        </p:spPr>
        <p:txBody>
          <a:bodyPr wrap="square" lIns="0" tIns="0" rIns="0" bIns="0" rtlCol="0" anchor="ctr"/>
          <a:lstStyle/>
          <a:p>
            <a:pPr marL="0" indent="0" algn="ctr">
              <a:buNone/>
              <a:defRPr sz="900" b="1"/>
            </a:pPr>
            <a:r>
              <a:t>HONEST LIMITATIONS &amp; DEFENSE</a:t>
            </a:r>
            <a:endParaRPr lang="en-US" sz="1050" dirty="0"/>
          </a:p>
        </p:txBody>
      </p:sp>
      <p:pic>
        <p:nvPicPr>
          <p:cNvPr id="8" name="Image 0" descr="icons/bolt_cyan.png"/>
          <p:cNvPicPr>
            <a:picLocks noChangeAspect="1"/>
          </p:cNvPicPr>
          <p:nvPr/>
        </p:nvPicPr>
        <p:blipFill>
          <a:blip r:embed="rId3"/>
          <a:stretch>
            <a:fillRect/>
          </a:stretch>
        </p:blipFill>
        <p:spPr>
          <a:xfrm>
            <a:off x="9784080" y="1005840"/>
            <a:ext cx="1371600" cy="1371600"/>
          </a:xfrm>
          <a:prstGeom prst="rect">
            <a:avLst/>
          </a:prstGeom>
        </p:spPr>
      </p:pic>
      <p:sp>
        <p:nvSpPr>
          <p:cNvPr id="9" name="Shape 6"/>
          <p:cNvSpPr/>
          <p:nvPr/>
        </p:nvSpPr>
        <p:spPr>
          <a:xfrm>
            <a:off x="640080" y="1874520"/>
            <a:ext cx="5120640" cy="3566160"/>
          </a:xfrm>
          <a:prstGeom prst="roundRect">
            <a:avLst>
              <a:gd name="adj" fmla="val 2308"/>
            </a:avLst>
          </a:prstGeom>
          <a:solidFill>
            <a:srgbClr val="2C3260"/>
          </a:solidFill>
          <a:ln/>
        </p:spPr>
        <p:txBody>
          <a:bodyPr/>
          <a:lstStyle/>
          <a:p>
            <a:endParaRPr lang="en-IN"/>
          </a:p>
        </p:txBody>
      </p:sp>
      <p:sp>
        <p:nvSpPr>
          <p:cNvPr id="10" name="Text 7"/>
          <p:cNvSpPr/>
          <p:nvPr/>
        </p:nvSpPr>
        <p:spPr>
          <a:xfrm>
            <a:off x="868680" y="2057400"/>
            <a:ext cx="4663440" cy="274320"/>
          </a:xfrm>
          <a:prstGeom prst="rect">
            <a:avLst/>
          </a:prstGeom>
          <a:noFill/>
          <a:ln/>
        </p:spPr>
        <p:txBody>
          <a:bodyPr wrap="square" lIns="0" tIns="0" rIns="0" bIns="0" rtlCol="0" anchor="ctr"/>
          <a:lstStyle/>
          <a:p>
            <a:pPr marL="0" indent="0">
              <a:buNone/>
              <a:defRPr sz="1200" b="1">
                <a:solidFill>
                  <a:srgbClr val="008C28"/>
                </a:solidFill>
              </a:defRPr>
            </a:pPr>
            <a:r>
              <a:t>WHAT WORKS (BENCHMARK VALIDATED)</a:t>
            </a:r>
            <a:endParaRPr lang="en-US" sz="1150" dirty="0"/>
          </a:p>
        </p:txBody>
      </p:sp>
      <p:sp>
        <p:nvSpPr>
          <p:cNvPr id="11" name="Text 8"/>
          <p:cNvSpPr/>
          <p:nvPr/>
        </p:nvSpPr>
        <p:spPr>
          <a:xfrm>
            <a:off x="868680" y="2423160"/>
            <a:ext cx="4663440" cy="2743200"/>
          </a:xfrm>
          <a:prstGeom prst="rect">
            <a:avLst/>
          </a:prstGeom>
          <a:noFill/>
          <a:ln/>
        </p:spPr>
        <p:txBody>
          <a:bodyPr wrap="square" lIns="0" tIns="0" rIns="0" bIns="0" rtlCol="0" anchor="t"/>
          <a:lstStyle/>
          <a:p>
            <a:pPr marL="0" indent="0">
              <a:lnSpc>
                <a:spcPct val="120000"/>
              </a:lnSpc>
              <a:buNone/>
              <a:defRPr sz="1000"/>
            </a:pPr>
            <a:r>
              <a:t>✔ Explicit-Duration Semi-Markov Modeling:</a:t>
            </a:r>
            <a:br/>
            <a:r>
              <a:t>  Discrete events + non-parametric dwell p_m(d) cut RUL error by 47–53% vs deep CNN/LSTM baselines (18.1 vs 34.0/38.9 RMSE on DS01).</a:t>
            </a:r>
            <a:br/>
            <a:br/>
            <a:r>
              <a:t>✔ Stable Event Vocabulary Across Seeds:</a:t>
            </a:r>
            <a:br/>
            <a:r>
              <a:t>  Vector Quantization (K=16) discovers repeatable operational tokens across 10 random seeds (0.94+ cosine stability, low perplexity variance).</a:t>
            </a:r>
            <a:br/>
            <a:br/>
            <a:r>
              <a:t>✔ Rigorous Conformal Risk Bounds on DS01:</a:t>
            </a:r>
            <a:br/>
            <a:r>
              <a:t>  Leave-One-Engine-Out (LOEO) calibration achieves 92% empirical coverage at 90% nominal level, eliminating window pseudoreplication.</a:t>
            </a:r>
            <a:br/>
            <a:br/>
            <a:r>
              <a:t>✔ Intrinsic Explanation Faithfulness:</a:t>
            </a:r>
            <a:br/>
            <a:r>
              <a:t>  Masking flagged event windows directly reduces anomaly score by 0.18–0.72 (6–27%), proving explanations reflect actual model drivers.</a:t>
            </a:r>
            <a:endParaRPr lang="en-US" sz="1250" dirty="0"/>
          </a:p>
        </p:txBody>
      </p:sp>
      <p:sp>
        <p:nvSpPr>
          <p:cNvPr id="12" name="Shape 9"/>
          <p:cNvSpPr/>
          <p:nvPr/>
        </p:nvSpPr>
        <p:spPr>
          <a:xfrm>
            <a:off x="6035040" y="1874520"/>
            <a:ext cx="5120640" cy="3566160"/>
          </a:xfrm>
          <a:prstGeom prst="roundRect">
            <a:avLst>
              <a:gd name="adj" fmla="val 2308"/>
            </a:avLst>
          </a:prstGeom>
          <a:solidFill>
            <a:srgbClr val="242A52"/>
          </a:solidFill>
          <a:ln w="15875">
            <a:solidFill>
              <a:srgbClr val="22D3EE"/>
            </a:solidFill>
            <a:prstDash val="solid"/>
          </a:ln>
          <a:effectLst>
            <a:outerShdw blurRad="127000" dist="38100" dir="5400000" algn="bl" rotWithShape="0">
              <a:srgbClr val="000000">
                <a:alpha val="30000"/>
              </a:srgbClr>
            </a:outerShdw>
          </a:effectLst>
        </p:spPr>
        <p:txBody>
          <a:bodyPr/>
          <a:lstStyle/>
          <a:p>
            <a:endParaRPr lang="en-IN"/>
          </a:p>
        </p:txBody>
      </p:sp>
      <p:sp>
        <p:nvSpPr>
          <p:cNvPr id="13" name="Text 10"/>
          <p:cNvSpPr/>
          <p:nvPr/>
        </p:nvSpPr>
        <p:spPr>
          <a:xfrm>
            <a:off x="6263640" y="2057400"/>
            <a:ext cx="4663440" cy="274320"/>
          </a:xfrm>
          <a:prstGeom prst="rect">
            <a:avLst/>
          </a:prstGeom>
          <a:noFill/>
          <a:ln/>
        </p:spPr>
        <p:txBody>
          <a:bodyPr wrap="square" lIns="0" tIns="0" rIns="0" bIns="0" rtlCol="0" anchor="ctr"/>
          <a:lstStyle/>
          <a:p>
            <a:pPr marL="0" indent="0">
              <a:buNone/>
              <a:defRPr sz="1200" b="1">
                <a:solidFill>
                  <a:srgbClr val="B43200"/>
                </a:solidFill>
              </a:defRPr>
            </a:pPr>
            <a:r>
              <a:t>LIMITATIONS &amp; ARCHITECTURAL RESPONSES</a:t>
            </a:r>
            <a:endParaRPr lang="en-US" sz="1150" dirty="0"/>
          </a:p>
        </p:txBody>
      </p:sp>
      <p:sp>
        <p:nvSpPr>
          <p:cNvPr id="14" name="Text 11"/>
          <p:cNvSpPr/>
          <p:nvPr/>
        </p:nvSpPr>
        <p:spPr>
          <a:xfrm>
            <a:off x="6263640" y="2423160"/>
            <a:ext cx="4663440" cy="2743200"/>
          </a:xfrm>
          <a:prstGeom prst="rect">
            <a:avLst/>
          </a:prstGeom>
          <a:noFill/>
          <a:ln/>
        </p:spPr>
        <p:txBody>
          <a:bodyPr wrap="square" lIns="0" tIns="0" rIns="0" bIns="0" rtlCol="0" anchor="t"/>
          <a:lstStyle/>
          <a:p>
            <a:pPr marL="0" indent="0">
              <a:lnSpc>
                <a:spcPct val="120000"/>
              </a:lnSpc>
              <a:buNone/>
              <a:defRPr sz="1000"/>
            </a:pPr>
            <a:r>
              <a:t>✖ Acoustic Discretization Penalty:</a:t>
            </a:r>
            <a:br/>
            <a:r>
              <a:t>  Discrete VQ loses high-frequency info on MIMII fans (AUROC 0.535 vs 0.628 continuous).</a:t>
            </a:r>
            <a:br/>
            <a:r>
              <a:t>  ↳ Response: Industrial Late-Fusion (continuous acoustic head + discrete grammar explanations).</a:t>
            </a:r>
            <a:br/>
            <a:br/>
            <a:r>
              <a:t>✖ Weak Degradation Health Index:</a:t>
            </a:r>
            <a:br/>
            <a:r>
              <a:t>  Health index Spearman correlation is weak (0.10–0.21) due to constant predictor artifact.</a:t>
            </a:r>
            <a:br/>
            <a:r>
              <a:t>  ↳ Response: Use RUL conformal bounds for replacement; decouple health scoring.</a:t>
            </a:r>
            <a:br/>
            <a:br/>
            <a:r>
              <a:t>✖ DS02 Small-Sample Conformal Limits:</a:t>
            </a:r>
            <a:br/>
            <a:r>
              <a:t>  DS02 conformal coverage fluctuates (55–100%) due to small sample size (N=5 calibration engines).</a:t>
            </a:r>
            <a:br/>
            <a:r>
              <a:t>  ↳ Response: Honestly flagged as unreliable for decision-making pending larger fleet N.</a:t>
            </a:r>
            <a:br/>
            <a:br/>
            <a:r>
              <a:t>✖ Unproven Field Deployment:</a:t>
            </a:r>
            <a:br/>
            <a:r>
              <a:t>  N-CMAPSS/MIMII are surrogate benchmarks; unvalidated on live Schneider switchgear.</a:t>
            </a:r>
            <a:br/>
            <a:r>
              <a:t>  ↳ Response: Advisory decision support only (human-in-the-loop); pilot on Harmony iPC.</a:t>
            </a:r>
            <a:endParaRPr lang="en-US" sz="1250" dirty="0"/>
          </a:p>
        </p:txBody>
      </p:sp>
      <p:sp>
        <p:nvSpPr>
          <p:cNvPr id="15" name="Text 12"/>
          <p:cNvSpPr/>
          <p:nvPr/>
        </p:nvSpPr>
        <p:spPr>
          <a:xfrm>
            <a:off x="548640" y="6537960"/>
            <a:ext cx="5486400" cy="274320"/>
          </a:xfrm>
          <a:prstGeom prst="rect">
            <a:avLst/>
          </a:prstGeom>
          <a:noFill/>
          <a:ln/>
        </p:spPr>
        <p:txBody>
          <a:bodyPr wrap="square" lIns="0" tIns="0" rIns="0" bIns="0" rtlCol="0" anchor="ctr"/>
          <a:lstStyle/>
          <a:p>
            <a:pPr marL="0" indent="0">
              <a:buNone/>
            </a:pPr>
            <a:r>
              <a:rPr lang="en-US" sz="900" dirty="0">
                <a:solidFill>
                  <a:srgbClr val="94A3B8"/>
                </a:solidFill>
                <a:latin typeface="Calibri" pitchFamily="34" charset="0"/>
                <a:ea typeface="Calibri" pitchFamily="34" charset="-122"/>
                <a:cs typeface="Calibri" pitchFamily="34" charset="-120"/>
              </a:rPr>
              <a:t>PredictX  ·  Team Pitch Deck Template</a:t>
            </a:r>
            <a:endParaRPr lang="en-US" sz="900" dirty="0"/>
          </a:p>
        </p:txBody>
      </p:sp>
      <p:sp>
        <p:nvSpPr>
          <p:cNvPr id="16" name="Text 13"/>
          <p:cNvSpPr/>
          <p:nvPr/>
        </p:nvSpPr>
        <p:spPr>
          <a:xfrm>
            <a:off x="11521440" y="6537960"/>
            <a:ext cx="365760" cy="274320"/>
          </a:xfrm>
          <a:prstGeom prst="rect">
            <a:avLst/>
          </a:prstGeom>
          <a:noFill/>
          <a:ln/>
        </p:spPr>
        <p:txBody>
          <a:bodyPr wrap="square" lIns="0" tIns="0" rIns="0" bIns="0" rtlCol="0" anchor="ctr"/>
          <a:lstStyle/>
          <a:p>
            <a:pPr marL="0" indent="0" algn="r">
              <a:buNone/>
              <a:defRPr sz="1000"/>
            </a:pPr>
            <a:r>
              <a:t>5</a:t>
            </a:r>
            <a:endParaRPr lang="en-US" sz="900" dirty="0"/>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chneider_slide13_tagline.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chneider_slide14_closing.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57443d00-af18-408c-9335-47b5de3ec9b9}" enabled="1" method="Privileged" siteId="{6e51e1ad-c54b-4b39-b598-0ffe9ae68fef}" removed="0"/>
</clbl:labelList>
</file>

<file path=docProps/app.xml><?xml version="1.0" encoding="utf-8"?>
<Properties xmlns="http://schemas.openxmlformats.org/officeDocument/2006/extended-properties" xmlns:vt="http://schemas.openxmlformats.org/officeDocument/2006/docPropsVTypes">
  <TotalTime>15</TotalTime>
  <Words>771</Words>
  <Application>Microsoft Office PowerPoint</Application>
  <PresentationFormat>Widescreen</PresentationFormat>
  <Paragraphs>87</Paragraphs>
  <Slides>7</Slides>
  <Notes>7</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7</vt:i4>
      </vt:variant>
    </vt:vector>
  </HeadingPairs>
  <TitlesOfParts>
    <vt:vector size="12" baseType="lpstr">
      <vt:lpstr>Aptos</vt: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PredictX - Team Pitch Deck Template</dc:title>
  <dc:subject>PptxGenJS Presentation</dc:subject>
  <dc:creator>PredictX Hackathon</dc:creator>
  <cp:lastModifiedBy>Soumya Gopinathan</cp:lastModifiedBy>
  <cp:revision>2</cp:revision>
  <dcterms:created xsi:type="dcterms:W3CDTF">2026-07-09T14:45:15Z</dcterms:created>
  <dcterms:modified xsi:type="dcterms:W3CDTF">2026-08-20T09:31:37Z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lassificationContentMarkingFooterLocations">
    <vt:lpwstr>Office Theme:3</vt:lpwstr>
  </property>
  <property fmtid="{D5CDD505-2E9C-101B-9397-08002B2CF9AE}" pid="3" name="ClassificationContentMarkingFooterText">
    <vt:lpwstr>General</vt:lpwstr>
  </property>
</Properties>
</file>